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6"/>
  </p:notes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344" r:id="rId28"/>
    <p:sldId id="298" r:id="rId29"/>
    <p:sldId id="299" r:id="rId30"/>
    <p:sldId id="300" r:id="rId31"/>
    <p:sldId id="301" r:id="rId32"/>
    <p:sldId id="302" r:id="rId33"/>
    <p:sldId id="304" r:id="rId34"/>
    <p:sldId id="305" r:id="rId35"/>
    <p:sldId id="352" r:id="rId36"/>
    <p:sldId id="341" r:id="rId37"/>
    <p:sldId id="306" r:id="rId38"/>
    <p:sldId id="316" r:id="rId39"/>
    <p:sldId id="317" r:id="rId40"/>
    <p:sldId id="354" r:id="rId41"/>
    <p:sldId id="319" r:id="rId42"/>
    <p:sldId id="318" r:id="rId43"/>
    <p:sldId id="345" r:id="rId44"/>
    <p:sldId id="307" r:id="rId45"/>
    <p:sldId id="346" r:id="rId46"/>
    <p:sldId id="347" r:id="rId47"/>
    <p:sldId id="348" r:id="rId48"/>
    <p:sldId id="308" r:id="rId49"/>
    <p:sldId id="326" r:id="rId50"/>
    <p:sldId id="353" r:id="rId51"/>
    <p:sldId id="327" r:id="rId52"/>
    <p:sldId id="328" r:id="rId53"/>
    <p:sldId id="349" r:id="rId54"/>
    <p:sldId id="309" r:id="rId55"/>
    <p:sldId id="320" r:id="rId56"/>
    <p:sldId id="322" r:id="rId57"/>
    <p:sldId id="321" r:id="rId58"/>
    <p:sldId id="350" r:id="rId59"/>
    <p:sldId id="310" r:id="rId60"/>
    <p:sldId id="323" r:id="rId61"/>
    <p:sldId id="325" r:id="rId62"/>
    <p:sldId id="324" r:id="rId63"/>
    <p:sldId id="311" r:id="rId64"/>
    <p:sldId id="329" r:id="rId65"/>
    <p:sldId id="331" r:id="rId66"/>
    <p:sldId id="330" r:id="rId67"/>
    <p:sldId id="351" r:id="rId68"/>
    <p:sldId id="312" r:id="rId69"/>
    <p:sldId id="332" r:id="rId70"/>
    <p:sldId id="333" r:id="rId71"/>
    <p:sldId id="334" r:id="rId72"/>
    <p:sldId id="314" r:id="rId73"/>
    <p:sldId id="335" r:id="rId74"/>
    <p:sldId id="337" r:id="rId75"/>
    <p:sldId id="336" r:id="rId76"/>
    <p:sldId id="315" r:id="rId77"/>
    <p:sldId id="338" r:id="rId78"/>
    <p:sldId id="356" r:id="rId79"/>
    <p:sldId id="355" r:id="rId80"/>
    <p:sldId id="340" r:id="rId81"/>
    <p:sldId id="357" r:id="rId82"/>
    <p:sldId id="339" r:id="rId83"/>
    <p:sldId id="358" r:id="rId84"/>
    <p:sldId id="303" r:id="rId85"/>
  </p:sldIdLst>
  <p:sldSz cx="12192000" cy="6858000"/>
  <p:notesSz cx="6858000" cy="9144000"/>
  <p:embeddedFontLst>
    <p:embeddedFont>
      <p:font typeface="Calibri" panose="020F0502020204030204" pitchFamily="34" charset="0"/>
      <p:regular r:id="rId87"/>
      <p:bold r:id="rId88"/>
      <p:italic r:id="rId89"/>
      <p:boldItalic r:id="rId90"/>
    </p:embeddedFont>
    <p:embeddedFont>
      <p:font typeface="Roboto" panose="02000000000000000000" pitchFamily="2" charset="0"/>
      <p:regular r:id="rId91"/>
      <p:bold r:id="rId92"/>
      <p:italic r:id="rId93"/>
      <p:boldItalic r:id="rId9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90" d="100"/>
          <a:sy n="90" d="100"/>
        </p:scale>
        <p:origin x="27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font" Target="fonts/font3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font" Target="fonts/font4.fntdata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font" Target="fonts/font2.fntdata"/><Relationship Id="rId91" Type="http://schemas.openxmlformats.org/officeDocument/2006/relationships/font" Target="fonts/font5.fntdata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94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6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1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7.fntdata"/><Relationship Id="rId9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27816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5359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2e6c5c864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g32e6c5c864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3865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6804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2196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8884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2e6c5c864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g32e6c5c864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77135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38718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96328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2e6c5c86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1" name="Google Shape;101;g32e6c5c86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79611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2e6c5c86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1" name="Google Shape;101;g32e6c5c86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05743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2e6c5c86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1" name="Google Shape;101;g32e6c5c86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67469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2e6c5c86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1" name="Google Shape;101;g32e6c5c86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99545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2e6c5c86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1" name="Google Shape;101;g32e6c5c86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86124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2e6c5c864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g32e6c5c864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17526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39714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69454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5809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2e6c5c864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g32e6c5c864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60764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67184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85793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82025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86264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086500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2e6c5c864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g32e6c5c864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62961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948417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2939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95759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63683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51019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58575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776135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23885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2e6c5c864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g32e6c5c864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59558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625513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536693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127224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2e6c5c864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g32e6c5c864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296986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178490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074044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064818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359975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798125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900081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2e6c5c864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g32e6c5c864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370711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587992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273802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76627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2e6c5c864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g32e6c5c864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528947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891468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620407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787197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560599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019566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2e6c5c864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g32e6c5c864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957858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83209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138516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578266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424016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2e6c5c864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g32e6c5c864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278555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00271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46781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499980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2e6c5c864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g32e6c5c864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718209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592212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65028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15671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836173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2e6c5c864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g32e6c5c864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300323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350254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264884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124098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2e6c5c864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g32e6c5c864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426629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621206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64114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7100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2e6c5c864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g32e6c5c864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153358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4710709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862706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6048766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1475490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3627050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2567226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2445117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2e6c5c864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5" name="Google Shape;215;g32e6c5c864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2018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28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jp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5.png"/><Relationship Id="rId4" Type="http://schemas.openxmlformats.org/officeDocument/2006/relationships/image" Target="../media/image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2.png"/><Relationship Id="rId4" Type="http://schemas.openxmlformats.org/officeDocument/2006/relationships/image" Target="../media/image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8.png"/><Relationship Id="rId4" Type="http://schemas.openxmlformats.org/officeDocument/2006/relationships/image" Target="../media/image2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2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3.png"/><Relationship Id="rId4" Type="http://schemas.openxmlformats.org/officeDocument/2006/relationships/image" Target="../media/image2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8.png"/><Relationship Id="rId4" Type="http://schemas.openxmlformats.org/officeDocument/2006/relationships/image" Target="../media/image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9.png"/><Relationship Id="rId4" Type="http://schemas.openxmlformats.org/officeDocument/2006/relationships/image" Target="../media/image2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2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adafruit/Adafruit_Python_SSD1306.git" TargetMode="External"/><Relationship Id="rId4" Type="http://schemas.openxmlformats.org/officeDocument/2006/relationships/image" Target="../media/image2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2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5.png"/><Relationship Id="rId4" Type="http://schemas.openxmlformats.org/officeDocument/2006/relationships/image" Target="../media/image2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5925422" y="3608658"/>
            <a:ext cx="5765100" cy="904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2300" y="1435085"/>
            <a:ext cx="1297311" cy="163175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/>
          <p:nvPr/>
        </p:nvSpPr>
        <p:spPr>
          <a:xfrm>
            <a:off x="5925424" y="4293447"/>
            <a:ext cx="5765100" cy="8310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37196" y="1435077"/>
            <a:ext cx="4787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Eder Carmona Armijo</a:t>
            </a:r>
            <a:endParaRPr sz="28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082300" y="3660738"/>
            <a:ext cx="5275200" cy="1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MX" sz="4000" b="1" dirty="0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4000" b="1" dirty="0" err="1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aspberry</a:t>
            </a:r>
            <a:r>
              <a:rPr lang="en-US" sz="4000" b="1" dirty="0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PI y Arduino</a:t>
            </a:r>
            <a:endParaRPr sz="40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490" y="1435077"/>
            <a:ext cx="2404297" cy="163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7219" y="6324158"/>
            <a:ext cx="399389" cy="324000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5484054" y="6278826"/>
            <a:ext cx="1454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 smtClean="0"/>
              <a:t>edercarmona</a:t>
            </a:r>
            <a:endParaRPr lang="en-US" dirty="0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7" t="13305" r="12285" b="13551"/>
          <a:stretch/>
        </p:blipFill>
        <p:spPr>
          <a:xfrm>
            <a:off x="6938385" y="6324158"/>
            <a:ext cx="336299" cy="324000"/>
          </a:xfrm>
          <a:prstGeom prst="rect">
            <a:avLst/>
          </a:prstGeom>
        </p:spPr>
      </p:pic>
      <p:sp>
        <p:nvSpPr>
          <p:cNvPr id="13" name="CuadroTexto 12"/>
          <p:cNvSpPr txBox="1"/>
          <p:nvPr/>
        </p:nvSpPr>
        <p:spPr>
          <a:xfrm>
            <a:off x="7234541" y="6301492"/>
            <a:ext cx="1454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 smtClean="0"/>
              <a:t>edercarmona</a:t>
            </a:r>
            <a:endParaRPr lang="en-US" dirty="0"/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1707" y="6324158"/>
            <a:ext cx="324000" cy="324000"/>
          </a:xfrm>
          <a:prstGeom prst="rect">
            <a:avLst/>
          </a:prstGeom>
        </p:spPr>
      </p:pic>
      <p:sp>
        <p:nvSpPr>
          <p:cNvPr id="15" name="CuadroTexto 14"/>
          <p:cNvSpPr txBox="1"/>
          <p:nvPr/>
        </p:nvSpPr>
        <p:spPr>
          <a:xfrm>
            <a:off x="8975707" y="6278826"/>
            <a:ext cx="3216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</a:t>
            </a:r>
            <a:r>
              <a:rPr lang="es-MX" dirty="0" smtClean="0"/>
              <a:t>dercarmona_22@Hotmail.com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2598" y="3575"/>
            <a:ext cx="6730300" cy="6867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82300" y="1435085"/>
            <a:ext cx="1297310" cy="163175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/>
          <p:nvPr/>
        </p:nvSpPr>
        <p:spPr>
          <a:xfrm>
            <a:off x="5925422" y="3501766"/>
            <a:ext cx="5765100" cy="8118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6082300" y="3522521"/>
            <a:ext cx="5275200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1100"/>
            </a:pPr>
            <a:r>
              <a:rPr lang="es-MX" sz="2800" b="1" dirty="0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Introducción</a:t>
            </a:r>
            <a:endParaRPr lang="es-MX" sz="28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490" y="1435077"/>
            <a:ext cx="2404297" cy="163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5823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4400" b="1" dirty="0" smtClean="0">
                <a:latin typeface="Roboto"/>
                <a:ea typeface="Roboto"/>
                <a:cs typeface="Roboto"/>
                <a:sym typeface="Roboto"/>
              </a:rPr>
              <a:t>Raspberry PI</a:t>
            </a:r>
            <a:endParaRPr sz="4400"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471900" y="1919075"/>
            <a:ext cx="103773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Raspberry Pi 3</a:t>
            </a: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" name="Picture 2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9257" y="2275112"/>
            <a:ext cx="5660307" cy="4303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9837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4400" b="1" dirty="0" smtClean="0">
                <a:latin typeface="Roboto"/>
                <a:ea typeface="Roboto"/>
                <a:cs typeface="Roboto"/>
                <a:sym typeface="Roboto"/>
              </a:rPr>
              <a:t>Raspberry PI</a:t>
            </a:r>
            <a:endParaRPr sz="4400"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471900" y="1919075"/>
            <a:ext cx="103773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Raspberry Pi 4</a:t>
            </a: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8" name="Picture 4" descr="Raspberry Pi 4 Specificati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4012" y="3005262"/>
            <a:ext cx="5553075" cy="3248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oogle Shape;96;p14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8848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4400" b="1" dirty="0" smtClean="0">
                <a:latin typeface="Roboto"/>
                <a:ea typeface="Roboto"/>
                <a:cs typeface="Roboto"/>
                <a:sym typeface="Roboto"/>
              </a:rPr>
              <a:t>Raspberry PI</a:t>
            </a:r>
            <a:endParaRPr sz="4400"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471900" y="1919075"/>
            <a:ext cx="103773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Versiones</a:t>
            </a: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6" name="Picture 2" descr="Resultado de imagen para raspberry pi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4" t="20244" r="3814" b="20700"/>
          <a:stretch/>
        </p:blipFill>
        <p:spPr bwMode="auto">
          <a:xfrm rot="16200000">
            <a:off x="451044" y="3375298"/>
            <a:ext cx="3564748" cy="2310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Resultado de imagen para raspberry pi  zero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87" t="31177" r="9885" b="30853"/>
          <a:stretch/>
        </p:blipFill>
        <p:spPr bwMode="auto">
          <a:xfrm rot="5400000">
            <a:off x="4271141" y="3714614"/>
            <a:ext cx="3366336" cy="1631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sultado de imagen para raspberry pi  compute modul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7425258" y="3641030"/>
            <a:ext cx="3183513" cy="1779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98;p14"/>
          <p:cNvSpPr txBox="1"/>
          <p:nvPr/>
        </p:nvSpPr>
        <p:spPr>
          <a:xfrm>
            <a:off x="1421208" y="6281809"/>
            <a:ext cx="1764058" cy="576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s-MX" sz="1800" dirty="0" err="1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Rpi</a:t>
            </a:r>
            <a:r>
              <a:rPr lang="es-MX" sz="18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4</a:t>
            </a: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Google Shape;98;p14"/>
          <p:cNvSpPr txBox="1"/>
          <p:nvPr/>
        </p:nvSpPr>
        <p:spPr>
          <a:xfrm>
            <a:off x="5138382" y="6209515"/>
            <a:ext cx="1764058" cy="576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s-MX" sz="1800" dirty="0" err="1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Rpi</a:t>
            </a:r>
            <a:r>
              <a:rPr lang="es-MX" sz="18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Zero W</a:t>
            </a: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98;p14"/>
          <p:cNvSpPr txBox="1"/>
          <p:nvPr/>
        </p:nvSpPr>
        <p:spPr>
          <a:xfrm>
            <a:off x="7984986" y="6209514"/>
            <a:ext cx="2064056" cy="576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s-MX" sz="18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Compute Module</a:t>
            </a: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" name="Google Shape;96;p14"/>
          <p:cNvPicPr preferRelativeResize="0">
            <a:picLocks noChangeAspect="1"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2" descr="Resultado de imagen para arduino logo 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3812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2598" y="3575"/>
            <a:ext cx="6730300" cy="6867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82300" y="1435085"/>
            <a:ext cx="1297310" cy="163175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/>
          <p:nvPr/>
        </p:nvSpPr>
        <p:spPr>
          <a:xfrm>
            <a:off x="5925422" y="3501766"/>
            <a:ext cx="5765100" cy="8118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6082300" y="3522521"/>
            <a:ext cx="5275200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1100"/>
            </a:pPr>
            <a:r>
              <a:rPr lang="es-MX" sz="28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Instalación y puesta en Marcha</a:t>
            </a:r>
          </a:p>
        </p:txBody>
      </p:sp>
      <p:sp>
        <p:nvSpPr>
          <p:cNvPr id="147" name="Google Shape;147;p20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490" y="1435077"/>
            <a:ext cx="2404297" cy="163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1141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4400" b="1" dirty="0">
                <a:latin typeface="Roboto"/>
                <a:ea typeface="Roboto"/>
                <a:cs typeface="Roboto"/>
                <a:sym typeface="Roboto"/>
              </a:rPr>
              <a:t>Instalación y puesta en Marcha</a:t>
            </a:r>
            <a:endParaRPr sz="4400"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471900" y="1919075"/>
            <a:ext cx="103773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Componentes </a:t>
            </a:r>
            <a:r>
              <a:rPr lang="es-MX" sz="26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necesarios para la </a:t>
            </a: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Raspberry Pi</a:t>
            </a:r>
            <a:r>
              <a:rPr lang="en-US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…</a:t>
            </a: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6" name="Picture 2" descr="A Raspberry Pi computer with all its peripheral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834" y="2530930"/>
            <a:ext cx="6172200" cy="411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1905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4400" b="1" dirty="0">
                <a:latin typeface="Roboto"/>
                <a:ea typeface="Roboto"/>
                <a:cs typeface="Roboto"/>
                <a:sym typeface="Roboto"/>
              </a:rPr>
              <a:t>Instalación y puesta en Marcha</a:t>
            </a:r>
            <a:endParaRPr sz="4400"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471900" y="1919075"/>
            <a:ext cx="103773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Componentes </a:t>
            </a:r>
            <a:r>
              <a:rPr lang="es-MX" sz="26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necesarios para la </a:t>
            </a: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Raspberry Pi</a:t>
            </a: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50" name="Picture 2" descr="An animation of peripherals being plugged into a Raspberry Pi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717" y="2564751"/>
            <a:ext cx="6193572" cy="4129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1778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4400" b="1" dirty="0">
                <a:latin typeface="Roboto"/>
                <a:ea typeface="Roboto"/>
                <a:cs typeface="Roboto"/>
                <a:sym typeface="Roboto"/>
              </a:rPr>
              <a:t>Instalación y puesta en Marcha</a:t>
            </a:r>
          </a:p>
        </p:txBody>
      </p:sp>
      <p:sp>
        <p:nvSpPr>
          <p:cNvPr id="106" name="Google Shape;106;p15"/>
          <p:cNvSpPr txBox="1"/>
          <p:nvPr/>
        </p:nvSpPr>
        <p:spPr>
          <a:xfrm>
            <a:off x="471900" y="1919075"/>
            <a:ext cx="98832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Descarga </a:t>
            </a:r>
            <a:r>
              <a:rPr lang="es-MX" sz="26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y grabado del sistema Operativo en la </a:t>
            </a: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MicroSD</a:t>
            </a:r>
            <a:r>
              <a:rPr lang="es-MX" sz="26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(Etcher</a:t>
            </a: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</a:p>
          <a:p>
            <a:pPr lvl="0">
              <a:lnSpc>
                <a:spcPct val="115000"/>
              </a:lnSpc>
            </a:pPr>
            <a:endParaRPr lang="es-MX" sz="26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endParaRPr lang="es-MX" sz="26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endParaRPr lang="es-MX" sz="26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endParaRPr lang="es-MX" sz="26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endParaRPr lang="es-MX" sz="26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endParaRPr lang="es-MX" sz="26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endParaRPr lang="es-MX" sz="26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endParaRPr lang="es-MX" sz="26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r>
              <a:rPr lang="es-MX" sz="20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https://www.raspberrypi.org/downloads/raspbian/</a:t>
            </a:r>
          </a:p>
          <a:p>
            <a:pPr lvl="0">
              <a:lnSpc>
                <a:spcPct val="115000"/>
              </a:lnSpc>
            </a:pPr>
            <a:r>
              <a:rPr lang="es-MX" sz="20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https://www.balena.io/etcher/</a:t>
            </a:r>
          </a:p>
          <a:p>
            <a:pPr lvl="0">
              <a:lnSpc>
                <a:spcPct val="115000"/>
              </a:lnSpc>
            </a:pPr>
            <a:endParaRPr lang="es-MX" sz="20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74" name="Picture 2" descr="https://www.balena.io/docs/img/common/etcher/etcher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218" y="2597973"/>
            <a:ext cx="6886669" cy="3271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9586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4400" b="1" dirty="0">
                <a:latin typeface="Roboto"/>
                <a:ea typeface="Roboto"/>
                <a:cs typeface="Roboto"/>
                <a:sym typeface="Roboto"/>
              </a:rPr>
              <a:t>Instalación y puesta en Marcha</a:t>
            </a:r>
          </a:p>
        </p:txBody>
      </p:sp>
      <p:sp>
        <p:nvSpPr>
          <p:cNvPr id="106" name="Google Shape;106;p15"/>
          <p:cNvSpPr txBox="1"/>
          <p:nvPr/>
        </p:nvSpPr>
        <p:spPr>
          <a:xfrm>
            <a:off x="471900" y="1919075"/>
            <a:ext cx="98832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Instalación </a:t>
            </a:r>
            <a:r>
              <a:rPr lang="es-MX" sz="26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del </a:t>
            </a: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sistema Operativo</a:t>
            </a:r>
          </a:p>
          <a:p>
            <a:pPr lvl="0">
              <a:lnSpc>
                <a:spcPct val="115000"/>
              </a:lnSpc>
            </a:pPr>
            <a:endParaRPr lang="es-MX" sz="26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45720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sz="26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729" y="2786425"/>
            <a:ext cx="4743450" cy="3219450"/>
          </a:xfrm>
          <a:prstGeom prst="rect">
            <a:avLst/>
          </a:prstGeom>
        </p:spPr>
      </p:pic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1799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4400" b="1" dirty="0">
                <a:latin typeface="Roboto"/>
                <a:ea typeface="Roboto"/>
                <a:cs typeface="Roboto"/>
                <a:sym typeface="Roboto"/>
              </a:rPr>
              <a:t>Instalación y puesta en Marcha</a:t>
            </a:r>
          </a:p>
        </p:txBody>
      </p:sp>
      <p:sp>
        <p:nvSpPr>
          <p:cNvPr id="106" name="Google Shape;106;p15"/>
          <p:cNvSpPr txBox="1"/>
          <p:nvPr/>
        </p:nvSpPr>
        <p:spPr>
          <a:xfrm>
            <a:off x="471900" y="1919075"/>
            <a:ext cx="98832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Habilitando </a:t>
            </a:r>
            <a:r>
              <a:rPr lang="es-MX" sz="26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conexión remota por </a:t>
            </a: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Línea </a:t>
            </a:r>
            <a:r>
              <a:rPr lang="es-MX" sz="26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Comando - SSH</a:t>
            </a:r>
            <a:endParaRPr lang="es-MX" sz="26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45720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sz="26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098" name="Picture 2" descr="pi configuration interfac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5503" y="2577656"/>
            <a:ext cx="4198061" cy="410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9140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4400" b="1" dirty="0">
                <a:latin typeface="Roboto"/>
                <a:ea typeface="Roboto"/>
                <a:cs typeface="Roboto"/>
                <a:sym typeface="Roboto"/>
              </a:rPr>
              <a:t>Instalación y puesta en Marcha</a:t>
            </a:r>
          </a:p>
        </p:txBody>
      </p:sp>
      <p:sp>
        <p:nvSpPr>
          <p:cNvPr id="106" name="Google Shape;106;p15"/>
          <p:cNvSpPr txBox="1"/>
          <p:nvPr/>
        </p:nvSpPr>
        <p:spPr>
          <a:xfrm>
            <a:off x="471900" y="1919075"/>
            <a:ext cx="98832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Acceso </a:t>
            </a:r>
            <a:r>
              <a:rPr lang="es-MX" sz="26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por SSH a la </a:t>
            </a: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Línea </a:t>
            </a:r>
            <a:r>
              <a:rPr lang="es-MX" sz="26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de </a:t>
            </a: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Comando</a:t>
            </a:r>
          </a:p>
          <a:p>
            <a:pPr lvl="0">
              <a:lnSpc>
                <a:spcPct val="115000"/>
              </a:lnSpc>
            </a:pPr>
            <a:endParaRPr lang="es-MX" sz="26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endParaRPr lang="es-MX" sz="26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endParaRPr lang="es-MX" sz="26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endParaRPr lang="es-MX" sz="26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endParaRPr lang="es-MX" sz="26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endParaRPr lang="es-MX" sz="26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endParaRPr lang="es-MX" sz="26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endParaRPr lang="es-MX" sz="26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endParaRPr lang="es-MX" sz="20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r>
              <a:rPr lang="es-MX" sz="20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https</a:t>
            </a:r>
            <a:r>
              <a:rPr lang="es-MX" sz="20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://www.putty.org</a:t>
            </a:r>
            <a:r>
              <a:rPr lang="es-MX" sz="20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/.</a:t>
            </a:r>
            <a:endParaRPr lang="es-MX" sz="20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338" y="2622652"/>
            <a:ext cx="3761286" cy="3678072"/>
          </a:xfrm>
          <a:prstGeom prst="rect">
            <a:avLst/>
          </a:prstGeom>
        </p:spPr>
      </p:pic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9305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4400" b="1" dirty="0">
                <a:latin typeface="Roboto"/>
                <a:ea typeface="Roboto"/>
                <a:cs typeface="Roboto"/>
                <a:sym typeface="Roboto"/>
              </a:rPr>
              <a:t>Instalación y puesta en Marcha</a:t>
            </a:r>
          </a:p>
        </p:txBody>
      </p:sp>
      <p:sp>
        <p:nvSpPr>
          <p:cNvPr id="106" name="Google Shape;106;p15"/>
          <p:cNvSpPr txBox="1"/>
          <p:nvPr/>
        </p:nvSpPr>
        <p:spPr>
          <a:xfrm>
            <a:off x="471900" y="1919075"/>
            <a:ext cx="98832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Acceso </a:t>
            </a:r>
            <a:r>
              <a:rPr lang="es-MX" sz="26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Remoto Gráfico de Escritorio por </a:t>
            </a: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VNC</a:t>
            </a:r>
          </a:p>
          <a:p>
            <a:pPr lvl="0">
              <a:lnSpc>
                <a:spcPct val="115000"/>
              </a:lnSpc>
            </a:pPr>
            <a:endParaRPr lang="es-MX" sz="26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endParaRPr lang="es-MX" sz="26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endParaRPr lang="es-MX" sz="26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endParaRPr lang="es-MX" sz="26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endParaRPr lang="es-MX" sz="26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endParaRPr lang="es-MX" sz="26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endParaRPr lang="es-MX" sz="26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endParaRPr lang="es-MX" sz="26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endParaRPr lang="es-MX" sz="20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r>
              <a:rPr lang="es-MX" sz="20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https</a:t>
            </a:r>
            <a:r>
              <a:rPr lang="es-MX" sz="20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://www.realvnc.com/es/connect/download/viewer</a:t>
            </a:r>
            <a:r>
              <a:rPr lang="es-MX" sz="20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endParaRPr lang="es-MX" sz="20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146" name="Picture 2" descr="VNC Server - Authentic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287" y="2786425"/>
            <a:ext cx="4924425" cy="337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9677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2598" y="3575"/>
            <a:ext cx="6730300" cy="6867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82300" y="1435085"/>
            <a:ext cx="1297310" cy="163175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/>
          <p:nvPr/>
        </p:nvSpPr>
        <p:spPr>
          <a:xfrm>
            <a:off x="5925422" y="3501766"/>
            <a:ext cx="5765100" cy="8118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6082300" y="3522521"/>
            <a:ext cx="5275200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1100"/>
            </a:pPr>
            <a:r>
              <a:rPr lang="es-MX" sz="2800" b="1" dirty="0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Linux - Comandos </a:t>
            </a:r>
            <a:r>
              <a:rPr lang="es-MX" sz="28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Básicos</a:t>
            </a:r>
          </a:p>
        </p:txBody>
      </p:sp>
      <p:sp>
        <p:nvSpPr>
          <p:cNvPr id="147" name="Google Shape;147;p20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490" y="1435077"/>
            <a:ext cx="2404297" cy="163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7898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4400" b="1" dirty="0">
                <a:latin typeface="Roboto"/>
                <a:ea typeface="Roboto"/>
                <a:cs typeface="Roboto"/>
                <a:sym typeface="Roboto"/>
              </a:rPr>
              <a:t>Comandos Básicos</a:t>
            </a:r>
            <a:endParaRPr sz="4400"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471900" y="1919075"/>
            <a:ext cx="103773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Actualización </a:t>
            </a:r>
            <a:r>
              <a:rPr lang="es-MX" sz="26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del sistema: </a:t>
            </a:r>
            <a:r>
              <a:rPr lang="es-MX" sz="2600" dirty="0" err="1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Update</a:t>
            </a:r>
            <a:r>
              <a:rPr lang="es-MX" sz="26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s-MX" sz="2600" dirty="0" err="1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Upgrade</a:t>
            </a:r>
            <a:endParaRPr lang="es-MX" sz="26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MX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sudo </a:t>
            </a:r>
            <a:r>
              <a:rPr lang="es-MX" sz="1800" dirty="0" err="1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apt</a:t>
            </a:r>
            <a:r>
              <a:rPr lang="es-MX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MX" sz="1800" dirty="0" err="1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update</a:t>
            </a:r>
            <a:endParaRPr lang="es-MX" sz="18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MX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sudo </a:t>
            </a:r>
            <a:r>
              <a:rPr lang="es-MX" sz="1800" dirty="0" err="1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apt</a:t>
            </a:r>
            <a:r>
              <a:rPr lang="es-MX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MX" sz="1800" dirty="0" err="1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upgrade</a:t>
            </a:r>
            <a:endParaRPr lang="es-MX" sz="18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MX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s-MX" sz="18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udo </a:t>
            </a:r>
            <a:r>
              <a:rPr lang="es-MX" sz="1800" dirty="0" err="1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apt</a:t>
            </a:r>
            <a:r>
              <a:rPr lang="es-MX" sz="18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MX" sz="1800" dirty="0" err="1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dist-upgrade</a:t>
            </a:r>
            <a:endParaRPr lang="es-MX" sz="18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MX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sudo  </a:t>
            </a:r>
            <a:r>
              <a:rPr lang="es-MX" sz="1800" dirty="0" err="1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rpi-update</a:t>
            </a:r>
            <a:endParaRPr lang="es-MX" sz="18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MX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s-MX" sz="18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udo </a:t>
            </a:r>
            <a:r>
              <a:rPr lang="es-MX" sz="1800" dirty="0" err="1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raspi-config</a:t>
            </a: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218" name="Picture 2" descr="Resultado de imagen para gestion de paquetes linux ap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0220" y="3219598"/>
            <a:ext cx="5781201" cy="3545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8901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4400" b="1" dirty="0">
                <a:latin typeface="Roboto"/>
                <a:ea typeface="Roboto"/>
                <a:cs typeface="Roboto"/>
                <a:sym typeface="Roboto"/>
              </a:rPr>
              <a:t>Comandos Básicos</a:t>
            </a:r>
            <a:endParaRPr sz="4400"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471900" y="1919075"/>
            <a:ext cx="103773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Gestión de Archivos y directorios</a:t>
            </a: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MX" sz="1800" dirty="0" err="1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pwd</a:t>
            </a:r>
            <a:endParaRPr lang="es-MX" sz="18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MX" sz="18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ls</a:t>
            </a: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MX" sz="1800" dirty="0" err="1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cp</a:t>
            </a:r>
            <a:endParaRPr lang="es-MX" sz="18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MX" sz="1800" dirty="0" err="1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Mv</a:t>
            </a:r>
            <a:endParaRPr lang="es-MX" sz="18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MX" sz="1800" dirty="0" err="1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mkdir</a:t>
            </a:r>
            <a:endParaRPr lang="es-MX" sz="18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MX" sz="1800" dirty="0" err="1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rm</a:t>
            </a:r>
            <a:endParaRPr lang="es-MX" sz="18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s-MX" sz="18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s-MX" sz="18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4897" y="2693346"/>
            <a:ext cx="5453604" cy="3342912"/>
          </a:xfrm>
          <a:prstGeom prst="rect">
            <a:avLst/>
          </a:prstGeom>
        </p:spPr>
      </p:pic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8666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4400" b="1" dirty="0">
                <a:latin typeface="Roboto"/>
                <a:ea typeface="Roboto"/>
                <a:cs typeface="Roboto"/>
                <a:sym typeface="Roboto"/>
              </a:rPr>
              <a:t>Comandos Básicos</a:t>
            </a:r>
            <a:endParaRPr sz="4400"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471900" y="1919075"/>
            <a:ext cx="103773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Editor </a:t>
            </a:r>
            <a:r>
              <a:rPr lang="es-MX" sz="26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de texto </a:t>
            </a: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nano</a:t>
            </a:r>
            <a:endParaRPr lang="es-MX" sz="18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s-MX" sz="18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42" name="Picture 2" descr="Resultado de imagen para editor nano linux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217" y="2576559"/>
            <a:ext cx="6105525" cy="3876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8224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2598" y="3575"/>
            <a:ext cx="6730300" cy="6867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82300" y="1435085"/>
            <a:ext cx="1297310" cy="163175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/>
          <p:nvPr/>
        </p:nvSpPr>
        <p:spPr>
          <a:xfrm>
            <a:off x="5925422" y="3501766"/>
            <a:ext cx="5765100" cy="8118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6082300" y="3522521"/>
            <a:ext cx="5608222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1100"/>
            </a:pPr>
            <a:r>
              <a:rPr lang="es-MX" sz="2400" b="1" dirty="0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Programación en Raspberry </a:t>
            </a:r>
            <a:r>
              <a:rPr lang="es-MX" sz="24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 Python</a:t>
            </a:r>
          </a:p>
        </p:txBody>
      </p:sp>
      <p:sp>
        <p:nvSpPr>
          <p:cNvPr id="147" name="Google Shape;147;p20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490" y="1435077"/>
            <a:ext cx="2404297" cy="163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0360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Programación en Raspberry con Python</a:t>
            </a:r>
          </a:p>
        </p:txBody>
      </p:sp>
      <p:sp>
        <p:nvSpPr>
          <p:cNvPr id="98" name="Google Shape;98;p14"/>
          <p:cNvSpPr txBox="1"/>
          <p:nvPr/>
        </p:nvSpPr>
        <p:spPr>
          <a:xfrm>
            <a:off x="471900" y="1919075"/>
            <a:ext cx="103773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s-MX" sz="26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Hola Mundo en </a:t>
            </a: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Python</a:t>
            </a:r>
          </a:p>
          <a:p>
            <a:pPr lvl="0">
              <a:lnSpc>
                <a:spcPct val="115000"/>
              </a:lnSpc>
            </a:pPr>
            <a:endParaRPr lang="es-MX" sz="18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/>
          <a:srcRect l="1822" t="16679" r="8671" b="62502"/>
          <a:stretch/>
        </p:blipFill>
        <p:spPr>
          <a:xfrm>
            <a:off x="1092196" y="3234519"/>
            <a:ext cx="10176585" cy="207188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1064" y="2511572"/>
            <a:ext cx="3050417" cy="3232713"/>
          </a:xfrm>
          <a:prstGeom prst="rect">
            <a:avLst/>
          </a:prstGeom>
        </p:spPr>
      </p:pic>
      <p:pic>
        <p:nvPicPr>
          <p:cNvPr id="8" name="Google Shape;96;p14"/>
          <p:cNvPicPr preferRelativeResize="0"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2" descr="Resultado de imagen para arduino logo 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9339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Programación en Raspberry con Python</a:t>
            </a:r>
          </a:p>
        </p:txBody>
      </p:sp>
      <p:sp>
        <p:nvSpPr>
          <p:cNvPr id="98" name="Google Shape;98;p14"/>
          <p:cNvSpPr txBox="1"/>
          <p:nvPr/>
        </p:nvSpPr>
        <p:spPr>
          <a:xfrm>
            <a:off x="471900" y="1919075"/>
            <a:ext cx="103773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s-MX" sz="26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U</a:t>
            </a: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so </a:t>
            </a:r>
            <a:r>
              <a:rPr lang="es-MX" sz="26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de </a:t>
            </a: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Variables</a:t>
            </a:r>
            <a:endParaRPr lang="es-MX" sz="18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/>
          </p:nvPr>
        </p:nvGraphicFramePr>
        <p:xfrm>
          <a:off x="1893137" y="2704526"/>
          <a:ext cx="8128000" cy="296672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 smtClean="0"/>
                        <a:t>Tipo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 smtClean="0"/>
                        <a:t>Palabra clave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smtClean="0"/>
                        <a:t>Texto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 err="1" smtClean="0"/>
                        <a:t>str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smtClean="0"/>
                        <a:t>Numéricos 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 err="1" smtClean="0"/>
                        <a:t>int</a:t>
                      </a:r>
                      <a:r>
                        <a:rPr lang="es-MX" dirty="0" smtClean="0"/>
                        <a:t>,</a:t>
                      </a:r>
                      <a:r>
                        <a:rPr lang="es-MX" baseline="0" dirty="0" smtClean="0"/>
                        <a:t> </a:t>
                      </a:r>
                      <a:r>
                        <a:rPr lang="es-MX" baseline="0" dirty="0" err="1" smtClean="0"/>
                        <a:t>float</a:t>
                      </a:r>
                      <a:r>
                        <a:rPr lang="es-MX" baseline="0" dirty="0" smtClean="0"/>
                        <a:t>, </a:t>
                      </a:r>
                      <a:r>
                        <a:rPr lang="es-MX" baseline="0" dirty="0" err="1" smtClean="0"/>
                        <a:t>complex</a:t>
                      </a:r>
                      <a:endParaRPr lang="es-MX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smtClean="0"/>
                        <a:t>Secuencias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 err="1" smtClean="0"/>
                        <a:t>List</a:t>
                      </a:r>
                      <a:r>
                        <a:rPr lang="es-MX" dirty="0" smtClean="0"/>
                        <a:t>, </a:t>
                      </a:r>
                      <a:r>
                        <a:rPr lang="es-MX" dirty="0" err="1" smtClean="0"/>
                        <a:t>tuple</a:t>
                      </a:r>
                      <a:r>
                        <a:rPr lang="es-MX" dirty="0" smtClean="0"/>
                        <a:t>, </a:t>
                      </a:r>
                      <a:r>
                        <a:rPr lang="es-MX" dirty="0" err="1" smtClean="0"/>
                        <a:t>range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smtClean="0"/>
                        <a:t>Mapas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 err="1" smtClean="0"/>
                        <a:t>dict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smtClean="0"/>
                        <a:t>Conjuntos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 smtClean="0"/>
                        <a:t>set, </a:t>
                      </a:r>
                      <a:r>
                        <a:rPr lang="es-MX" dirty="0" err="1" smtClean="0"/>
                        <a:t>froznset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smtClean="0"/>
                        <a:t>Boléanos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 err="1" smtClean="0"/>
                        <a:t>bool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smtClean="0"/>
                        <a:t>Binarios 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 smtClean="0"/>
                        <a:t>Bytes, </a:t>
                      </a:r>
                      <a:r>
                        <a:rPr lang="es-MX" dirty="0" err="1" smtClean="0"/>
                        <a:t>byterray</a:t>
                      </a:r>
                      <a:r>
                        <a:rPr lang="es-MX" dirty="0" smtClean="0"/>
                        <a:t>, </a:t>
                      </a:r>
                      <a:r>
                        <a:rPr lang="es-MX" dirty="0" err="1" smtClean="0"/>
                        <a:t>memoryview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9174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Programación en Raspberry con Python</a:t>
            </a:r>
          </a:p>
        </p:txBody>
      </p:sp>
      <p:sp>
        <p:nvSpPr>
          <p:cNvPr id="98" name="Google Shape;98;p14"/>
          <p:cNvSpPr txBox="1"/>
          <p:nvPr/>
        </p:nvSpPr>
        <p:spPr>
          <a:xfrm>
            <a:off x="471900" y="1919075"/>
            <a:ext cx="103773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s-MX" sz="26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Python If ... </a:t>
            </a:r>
            <a:r>
              <a:rPr lang="es-MX" sz="2600" dirty="0" err="1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Else</a:t>
            </a:r>
            <a:endParaRPr lang="es-MX" sz="18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3"/>
          <a:srcRect l="2448" t="16098" r="3778" b="60284"/>
          <a:stretch/>
        </p:blipFill>
        <p:spPr>
          <a:xfrm>
            <a:off x="1378423" y="2786425"/>
            <a:ext cx="10085062" cy="2707400"/>
          </a:xfrm>
          <a:prstGeom prst="rect">
            <a:avLst/>
          </a:prstGeom>
        </p:spPr>
      </p:pic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5522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Programación en Raspberry con Python</a:t>
            </a:r>
          </a:p>
        </p:txBody>
      </p:sp>
      <p:sp>
        <p:nvSpPr>
          <p:cNvPr id="98" name="Google Shape;98;p14"/>
          <p:cNvSpPr txBox="1"/>
          <p:nvPr/>
        </p:nvSpPr>
        <p:spPr>
          <a:xfrm>
            <a:off x="471900" y="1919075"/>
            <a:ext cx="103773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s-MX" sz="26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Python </a:t>
            </a: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ciclo </a:t>
            </a:r>
            <a:r>
              <a:rPr lang="es-MX" sz="2600" dirty="0" err="1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s-MX" sz="2600" dirty="0" err="1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hile</a:t>
            </a:r>
            <a:endParaRPr lang="es-MX" sz="18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3"/>
          <a:srcRect l="1819" t="16098" r="5666" b="70912"/>
          <a:stretch/>
        </p:blipFill>
        <p:spPr>
          <a:xfrm>
            <a:off x="1933228" y="3274175"/>
            <a:ext cx="9027998" cy="1351130"/>
          </a:xfrm>
          <a:prstGeom prst="rect">
            <a:avLst/>
          </a:prstGeom>
        </p:spPr>
      </p:pic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6156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Programación en Raspberry con Python</a:t>
            </a:r>
          </a:p>
        </p:txBody>
      </p:sp>
      <p:sp>
        <p:nvSpPr>
          <p:cNvPr id="98" name="Google Shape;98;p14"/>
          <p:cNvSpPr txBox="1"/>
          <p:nvPr/>
        </p:nvSpPr>
        <p:spPr>
          <a:xfrm>
            <a:off x="471900" y="1919075"/>
            <a:ext cx="103773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s-MX" sz="26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Python </a:t>
            </a: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ciclo </a:t>
            </a:r>
            <a:r>
              <a:rPr lang="es-MX" sz="2600" dirty="0" err="1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for</a:t>
            </a:r>
            <a:endParaRPr lang="es-MX" sz="18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3"/>
          <a:srcRect l="3288" t="15704" r="12589" b="72684"/>
          <a:stretch/>
        </p:blipFill>
        <p:spPr>
          <a:xfrm>
            <a:off x="1310185" y="3274175"/>
            <a:ext cx="9238223" cy="1359240"/>
          </a:xfrm>
          <a:prstGeom prst="rect">
            <a:avLst/>
          </a:prstGeom>
        </p:spPr>
      </p:pic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473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2598" y="3575"/>
            <a:ext cx="6730300" cy="6867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82300" y="1435085"/>
            <a:ext cx="1297310" cy="163175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/>
          <p:nvPr/>
        </p:nvSpPr>
        <p:spPr>
          <a:xfrm>
            <a:off x="5925422" y="3501766"/>
            <a:ext cx="5765100" cy="8118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6082300" y="3522521"/>
            <a:ext cx="5608222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1100"/>
            </a:pPr>
            <a:r>
              <a:rPr lang="es-MX" sz="2400" b="1" dirty="0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Puerto </a:t>
            </a:r>
            <a:r>
              <a:rPr lang="es-MX" sz="2400" b="1" dirty="0" err="1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GPIO</a:t>
            </a:r>
            <a:endParaRPr lang="es-MX" sz="24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490" y="1435077"/>
            <a:ext cx="2404297" cy="163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9879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 smtClean="0">
                <a:latin typeface="Roboto"/>
                <a:ea typeface="Roboto"/>
                <a:cs typeface="Roboto"/>
                <a:sym typeface="Roboto"/>
              </a:rPr>
              <a:t>Puerto </a:t>
            </a:r>
            <a:r>
              <a:rPr lang="es-MX" sz="3200" b="1" dirty="0" err="1" smtClean="0">
                <a:latin typeface="Roboto"/>
                <a:ea typeface="Roboto"/>
                <a:cs typeface="Roboto"/>
                <a:sym typeface="Roboto"/>
              </a:rPr>
              <a:t>GPIO</a:t>
            </a:r>
            <a:endParaRPr lang="es-MX" sz="32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9157" y="1172000"/>
            <a:ext cx="1509843" cy="5320743"/>
          </a:xfrm>
          <a:prstGeom prst="rect">
            <a:avLst/>
          </a:prstGeom>
        </p:spPr>
      </p:pic>
      <p:pic>
        <p:nvPicPr>
          <p:cNvPr id="11268" name="Picture 4" descr="Resultado de imagen para raspberry pi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572263" y="2513351"/>
            <a:ext cx="5322014" cy="3407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ector recto de flecha 5"/>
          <p:cNvCxnSpPr/>
          <p:nvPr/>
        </p:nvCxnSpPr>
        <p:spPr>
          <a:xfrm flipV="1">
            <a:off x="5786651" y="1219685"/>
            <a:ext cx="1152506" cy="96395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Conector recto de flecha 11"/>
          <p:cNvCxnSpPr/>
          <p:nvPr/>
        </p:nvCxnSpPr>
        <p:spPr>
          <a:xfrm>
            <a:off x="5735107" y="5117609"/>
            <a:ext cx="1484559" cy="114671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" name="Google Shape;96;p14"/>
          <p:cNvPicPr preferRelativeResize="0"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2" descr="Resultado de imagen para arduino logo 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5817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 smtClean="0">
                <a:latin typeface="Roboto"/>
                <a:ea typeface="Roboto"/>
                <a:cs typeface="Roboto"/>
                <a:sym typeface="Roboto"/>
              </a:rPr>
              <a:t>Puerto </a:t>
            </a:r>
            <a:r>
              <a:rPr lang="es-MX" sz="3200" b="1" dirty="0" err="1" smtClean="0">
                <a:latin typeface="Roboto"/>
                <a:ea typeface="Roboto"/>
                <a:cs typeface="Roboto"/>
                <a:sym typeface="Roboto"/>
              </a:rPr>
              <a:t>GPIO</a:t>
            </a:r>
            <a:endParaRPr lang="es-MX" sz="3200"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Google Shape;98;p14"/>
          <p:cNvSpPr txBox="1"/>
          <p:nvPr/>
        </p:nvSpPr>
        <p:spPr>
          <a:xfrm>
            <a:off x="471900" y="1919075"/>
            <a:ext cx="103773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Comando </a:t>
            </a:r>
            <a:r>
              <a:rPr lang="es-MX" sz="2600" dirty="0" err="1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pinout</a:t>
            </a:r>
            <a:endParaRPr lang="es-MX" sz="26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endParaRPr lang="es-MX" sz="18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5"/>
          <a:srcRect t="10817" r="71647" b="19568"/>
          <a:stretch/>
        </p:blipFill>
        <p:spPr>
          <a:xfrm>
            <a:off x="4104886" y="1348965"/>
            <a:ext cx="3952698" cy="545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19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 smtClean="0">
                <a:latin typeface="Roboto"/>
                <a:ea typeface="Roboto"/>
                <a:cs typeface="Roboto"/>
                <a:sym typeface="Roboto"/>
              </a:rPr>
              <a:t>Puerto </a:t>
            </a:r>
            <a:r>
              <a:rPr lang="es-MX" sz="3200" b="1" dirty="0" err="1" smtClean="0">
                <a:latin typeface="Roboto"/>
                <a:ea typeface="Roboto"/>
                <a:cs typeface="Roboto"/>
                <a:sym typeface="Roboto"/>
              </a:rPr>
              <a:t>GPIO</a:t>
            </a:r>
            <a:endParaRPr lang="es-MX" sz="3200"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Google Shape;98;p14"/>
          <p:cNvSpPr txBox="1"/>
          <p:nvPr/>
        </p:nvSpPr>
        <p:spPr>
          <a:xfrm>
            <a:off x="471900" y="1919075"/>
            <a:ext cx="103773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Comando </a:t>
            </a:r>
            <a:r>
              <a:rPr lang="es-MX" sz="2600" dirty="0" err="1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gpio</a:t>
            </a: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MX" sz="2600" dirty="0" err="1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readall</a:t>
            </a:r>
            <a:endParaRPr lang="es-MX" sz="26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endParaRPr lang="es-MX" sz="18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5"/>
          <a:srcRect t="2387" r="63520" b="50493"/>
          <a:stretch/>
        </p:blipFill>
        <p:spPr>
          <a:xfrm>
            <a:off x="2820996" y="2616450"/>
            <a:ext cx="5861681" cy="410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836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61226" y="5493825"/>
            <a:ext cx="862513" cy="1084867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 smtClean="0">
                <a:latin typeface="Roboto"/>
                <a:ea typeface="Roboto"/>
                <a:cs typeface="Roboto"/>
                <a:sym typeface="Roboto"/>
              </a:rPr>
              <a:t>Puerto </a:t>
            </a:r>
            <a:r>
              <a:rPr lang="es-MX" sz="3200" b="1" dirty="0" err="1" smtClean="0">
                <a:latin typeface="Roboto"/>
                <a:ea typeface="Roboto"/>
                <a:cs typeface="Roboto"/>
                <a:sym typeface="Roboto"/>
              </a:rPr>
              <a:t>GPIO</a:t>
            </a:r>
            <a:endParaRPr lang="es-MX" sz="32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4"/>
          <a:srcRect l="23392" t="7450" r="17029" b="1166"/>
          <a:stretch/>
        </p:blipFill>
        <p:spPr>
          <a:xfrm>
            <a:off x="3152633" y="1214654"/>
            <a:ext cx="6441743" cy="555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939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 smtClean="0">
                <a:latin typeface="Roboto"/>
                <a:ea typeface="Roboto"/>
                <a:cs typeface="Roboto"/>
                <a:sym typeface="Roboto"/>
              </a:rPr>
              <a:t>Puerto </a:t>
            </a:r>
            <a:r>
              <a:rPr lang="es-MX" sz="3200" b="1" dirty="0" err="1" smtClean="0">
                <a:latin typeface="Roboto"/>
                <a:ea typeface="Roboto"/>
                <a:cs typeface="Roboto"/>
                <a:sym typeface="Roboto"/>
              </a:rPr>
              <a:t>GPIO</a:t>
            </a:r>
            <a:endParaRPr lang="es-MX" sz="3200"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Google Shape;98;p14"/>
          <p:cNvSpPr txBox="1"/>
          <p:nvPr/>
        </p:nvSpPr>
        <p:spPr>
          <a:xfrm>
            <a:off x="471900" y="1919075"/>
            <a:ext cx="103773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s-MX" sz="2600" dirty="0" err="1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UART</a:t>
            </a:r>
            <a:endParaRPr lang="es-MX" sz="26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4572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MX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Los dispositivos </a:t>
            </a:r>
            <a:r>
              <a:rPr lang="es-MX" sz="18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periféricos, </a:t>
            </a:r>
            <a:r>
              <a:rPr lang="es-MX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como los módulos GPS, las pantallas LCD y las radios </a:t>
            </a:r>
            <a:r>
              <a:rPr lang="es-MX" sz="1800" dirty="0" err="1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XBee</a:t>
            </a:r>
            <a:r>
              <a:rPr lang="es-MX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, generalmente usan </a:t>
            </a:r>
            <a:r>
              <a:rPr lang="es-MX" sz="18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puertos Universal </a:t>
            </a:r>
            <a:r>
              <a:rPr lang="es-MX" sz="1800" dirty="0" err="1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Asynchronous</a:t>
            </a:r>
            <a:r>
              <a:rPr lang="es-MX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Receiver </a:t>
            </a:r>
            <a:r>
              <a:rPr lang="es-MX" sz="1800" dirty="0" err="1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Transmitter</a:t>
            </a:r>
            <a:r>
              <a:rPr lang="es-MX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s-MX" sz="1800" dirty="0" err="1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UART</a:t>
            </a:r>
            <a:r>
              <a:rPr lang="es-MX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) (a menudo simplemente llamados puertos seriales) para comunicarse</a:t>
            </a:r>
            <a:endParaRPr lang="es-MX" sz="18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endParaRPr lang="es-MX" sz="18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410" name="Picture 2" descr="&quot;uart-connections&quot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212" y="4061312"/>
            <a:ext cx="7686675" cy="133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931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 smtClean="0">
                <a:latin typeface="Roboto"/>
                <a:ea typeface="Roboto"/>
                <a:cs typeface="Roboto"/>
                <a:sym typeface="Roboto"/>
              </a:rPr>
              <a:t>Puerto </a:t>
            </a:r>
            <a:r>
              <a:rPr lang="es-MX" sz="3200" b="1" dirty="0" err="1" smtClean="0">
                <a:latin typeface="Roboto"/>
                <a:ea typeface="Roboto"/>
                <a:cs typeface="Roboto"/>
                <a:sym typeface="Roboto"/>
              </a:rPr>
              <a:t>GPIO</a:t>
            </a:r>
            <a:endParaRPr lang="es-MX" sz="3200"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Google Shape;98;p14"/>
          <p:cNvSpPr txBox="1"/>
          <p:nvPr/>
        </p:nvSpPr>
        <p:spPr>
          <a:xfrm>
            <a:off x="471900" y="1919075"/>
            <a:ext cx="103773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s-MX" sz="2600" dirty="0" err="1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I2C</a:t>
            </a:r>
            <a:endParaRPr lang="es-MX" sz="26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r>
              <a:rPr lang="es-MX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El Inter-</a:t>
            </a:r>
            <a:r>
              <a:rPr lang="es-MX" sz="1800" dirty="0" err="1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Integrated</a:t>
            </a:r>
            <a:r>
              <a:rPr lang="es-MX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MX" sz="1800" dirty="0" err="1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Circuit</a:t>
            </a:r>
            <a:r>
              <a:rPr lang="es-MX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s-MX" sz="1800" dirty="0" err="1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IIC</a:t>
            </a:r>
            <a:r>
              <a:rPr lang="es-MX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o </a:t>
            </a:r>
            <a:r>
              <a:rPr lang="es-MX" sz="1800" dirty="0" err="1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I2C</a:t>
            </a:r>
            <a:r>
              <a:rPr lang="es-MX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) conecta dispositivos periféricos simples con pequeñas cargas de datos. Los sensores y actuadores son casos de uso comunes para </a:t>
            </a:r>
            <a:r>
              <a:rPr lang="es-MX" sz="1800" dirty="0" err="1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I2C</a:t>
            </a:r>
            <a:r>
              <a:rPr lang="es-MX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. Los ejemplos incluyen acelerómetros, termómetros, pantallas LCD y controladores de motor.</a:t>
            </a:r>
            <a:endParaRPr lang="es-MX" sz="18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endParaRPr lang="es-MX" sz="18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482" name="Picture 2" descr="I2C-connecti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237" y="3435162"/>
            <a:ext cx="8048625" cy="3114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7265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 smtClean="0">
                <a:latin typeface="Roboto"/>
                <a:ea typeface="Roboto"/>
                <a:cs typeface="Roboto"/>
                <a:sym typeface="Roboto"/>
              </a:rPr>
              <a:t>Puerto </a:t>
            </a:r>
            <a:r>
              <a:rPr lang="es-MX" sz="3200" b="1" dirty="0" err="1" smtClean="0">
                <a:latin typeface="Roboto"/>
                <a:ea typeface="Roboto"/>
                <a:cs typeface="Roboto"/>
                <a:sym typeface="Roboto"/>
              </a:rPr>
              <a:t>GPIO</a:t>
            </a:r>
            <a:endParaRPr lang="es-MX" sz="3200"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Google Shape;98;p14"/>
          <p:cNvSpPr txBox="1"/>
          <p:nvPr/>
        </p:nvSpPr>
        <p:spPr>
          <a:xfrm>
            <a:off x="471900" y="1919075"/>
            <a:ext cx="103773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s-MX" sz="2600" dirty="0" err="1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SPI</a:t>
            </a:r>
            <a:endParaRPr lang="es-MX" sz="26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r>
              <a:rPr lang="es-MX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Los dispositivos de Serial </a:t>
            </a:r>
            <a:r>
              <a:rPr lang="es-MX" sz="1800" dirty="0" err="1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Peripheral</a:t>
            </a:r>
            <a:r>
              <a:rPr lang="es-MX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Interface (</a:t>
            </a:r>
            <a:r>
              <a:rPr lang="es-MX" sz="1800" dirty="0" err="1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SPI</a:t>
            </a:r>
            <a:r>
              <a:rPr lang="es-MX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) se encuentran generalmente donde se requieren velocidades de transferencia de datos rápidas. </a:t>
            </a:r>
            <a:r>
              <a:rPr lang="es-MX" sz="1800" dirty="0" err="1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SPI</a:t>
            </a:r>
            <a:r>
              <a:rPr lang="es-MX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es muy adecuado para casos de uso de gran ancho de banda, como memoria externa no volátil y pantallas gráficas. Muchos dispositivos sensores admiten </a:t>
            </a:r>
            <a:r>
              <a:rPr lang="es-MX" sz="1800" dirty="0" err="1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SPI</a:t>
            </a:r>
            <a:r>
              <a:rPr lang="es-MX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además de </a:t>
            </a:r>
            <a:r>
              <a:rPr lang="es-MX" sz="1800" dirty="0" err="1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I2C</a:t>
            </a:r>
            <a:r>
              <a:rPr lang="es-MX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lvl="0">
              <a:lnSpc>
                <a:spcPct val="115000"/>
              </a:lnSpc>
            </a:pPr>
            <a:endParaRPr lang="es-MX" sz="26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endParaRPr lang="es-MX" sz="18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506" name="Picture 2" descr="&quot;spi-connections&quot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274" y="3799162"/>
            <a:ext cx="6566066" cy="3007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5075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 smtClean="0">
                <a:latin typeface="Roboto"/>
                <a:ea typeface="Roboto"/>
                <a:cs typeface="Roboto"/>
                <a:sym typeface="Roboto"/>
              </a:rPr>
              <a:t>Puerto </a:t>
            </a:r>
            <a:r>
              <a:rPr lang="es-MX" sz="3200" b="1" dirty="0" err="1" smtClean="0">
                <a:latin typeface="Roboto"/>
                <a:ea typeface="Roboto"/>
                <a:cs typeface="Roboto"/>
                <a:sym typeface="Roboto"/>
              </a:rPr>
              <a:t>GPIO</a:t>
            </a:r>
            <a:endParaRPr lang="es-MX" sz="3200"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Google Shape;98;p14"/>
          <p:cNvSpPr txBox="1"/>
          <p:nvPr/>
        </p:nvSpPr>
        <p:spPr>
          <a:xfrm>
            <a:off x="471900" y="1919075"/>
            <a:ext cx="103773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s-MX" sz="2600" dirty="0" err="1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PWM</a:t>
            </a:r>
            <a:endParaRPr lang="es-MX" sz="26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r>
              <a:rPr lang="en-US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Pulse Width Modulation (</a:t>
            </a:r>
            <a:r>
              <a:rPr lang="en-US" sz="1800" dirty="0" err="1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PWM</a:t>
            </a:r>
            <a:r>
              <a:rPr lang="en-US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) </a:t>
            </a:r>
            <a:r>
              <a:rPr lang="es-MX" sz="18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Es </a:t>
            </a:r>
            <a:r>
              <a:rPr lang="es-MX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un método común utilizado para aplicar una señal de control proporcional a un dispositivo externo utilizando un pin de salida digital. Por ejemplo, los servomotores utilizan el ancho de pulso de una señal </a:t>
            </a:r>
            <a:r>
              <a:rPr lang="es-MX" sz="1800" dirty="0" err="1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PWM</a:t>
            </a:r>
            <a:r>
              <a:rPr lang="es-MX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entrante para determinar su ángulo de rotación. Las pantallas LCD ajustan su brillo en función del valor promedio de una señal </a:t>
            </a:r>
            <a:r>
              <a:rPr lang="es-MX" sz="1800" dirty="0" err="1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PWM</a:t>
            </a:r>
            <a:r>
              <a:rPr lang="es-MX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lang="es-MX" sz="26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endParaRPr lang="es-MX" sz="18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530" name="Picture 2" descr="https://developer.android.com/things/images/pwm-signal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9112" y="3911412"/>
            <a:ext cx="7762875" cy="2162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4985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2598" y="3575"/>
            <a:ext cx="6730300" cy="6867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82300" y="1435085"/>
            <a:ext cx="1297310" cy="163175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/>
          <p:nvPr/>
        </p:nvSpPr>
        <p:spPr>
          <a:xfrm>
            <a:off x="5925422" y="3501766"/>
            <a:ext cx="5765100" cy="8118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6082300" y="3522521"/>
            <a:ext cx="5608222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1100"/>
            </a:pPr>
            <a:r>
              <a:rPr lang="es-MX" sz="2400" b="1" dirty="0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Comunicando </a:t>
            </a:r>
            <a:r>
              <a:rPr lang="es-MX" sz="2400" b="1" dirty="0" err="1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Rasberry</a:t>
            </a:r>
            <a:r>
              <a:rPr lang="es-MX" sz="2400" b="1" dirty="0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Pi y </a:t>
            </a:r>
            <a:r>
              <a:rPr lang="es-MX" sz="2400" b="1" dirty="0" err="1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Arduino</a:t>
            </a:r>
            <a:endParaRPr lang="es-MX" sz="24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490" y="1435077"/>
            <a:ext cx="2404297" cy="163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805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 smtClean="0">
                <a:latin typeface="Roboto"/>
                <a:ea typeface="Roboto"/>
                <a:cs typeface="Roboto"/>
                <a:sym typeface="Roboto"/>
              </a:rPr>
              <a:t>Comunicación UART</a:t>
            </a:r>
            <a:endParaRPr lang="es-MX" sz="32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6660" y="1670150"/>
            <a:ext cx="6990080" cy="39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378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 smtClean="0">
                <a:latin typeface="Roboto"/>
                <a:ea typeface="Roboto"/>
                <a:cs typeface="Roboto"/>
                <a:sym typeface="Roboto"/>
              </a:rPr>
              <a:t>Comunicación UART</a:t>
            </a:r>
            <a:endParaRPr lang="es-MX" sz="32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98;p14"/>
          <p:cNvSpPr txBox="1"/>
          <p:nvPr/>
        </p:nvSpPr>
        <p:spPr>
          <a:xfrm>
            <a:off x="471900" y="1919075"/>
            <a:ext cx="103773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Configuraciones Previas</a:t>
            </a:r>
          </a:p>
          <a:p>
            <a:pPr marL="457200" lvl="0" indent="-4572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MX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dmesg | grep </a:t>
            </a:r>
            <a:r>
              <a:rPr lang="es-MX" sz="1800" dirty="0" err="1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tty</a:t>
            </a:r>
            <a:endParaRPr lang="es-MX" sz="18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endParaRPr lang="es-MX" sz="18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999257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 smtClean="0">
                <a:latin typeface="Roboto"/>
                <a:ea typeface="Roboto"/>
                <a:cs typeface="Roboto"/>
                <a:sym typeface="Roboto"/>
              </a:rPr>
              <a:t>Comunicación UART</a:t>
            </a:r>
            <a:endParaRPr lang="es-MX" sz="32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5"/>
          <a:srcRect l="4778" t="19640" r="61953" b="55677"/>
          <a:stretch/>
        </p:blipFill>
        <p:spPr>
          <a:xfrm>
            <a:off x="471900" y="2199992"/>
            <a:ext cx="5466924" cy="228147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6"/>
          <a:srcRect l="1543" t="17674" r="42545" b="29656"/>
          <a:stretch/>
        </p:blipFill>
        <p:spPr>
          <a:xfrm>
            <a:off x="8694000" y="1955549"/>
            <a:ext cx="2897109" cy="3521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060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2598" y="3575"/>
            <a:ext cx="6730300" cy="6867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82300" y="1435085"/>
            <a:ext cx="1297310" cy="163175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/>
          <p:nvPr/>
        </p:nvSpPr>
        <p:spPr>
          <a:xfrm>
            <a:off x="5925422" y="3501766"/>
            <a:ext cx="5765100" cy="8118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6082300" y="3522521"/>
            <a:ext cx="5608222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1100"/>
            </a:pPr>
            <a:r>
              <a:rPr lang="es-MX" sz="2400" b="1" dirty="0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Leds RGB</a:t>
            </a:r>
            <a:endParaRPr lang="es-MX" sz="24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490" y="1435077"/>
            <a:ext cx="2404297" cy="163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9499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Leds RGB</a:t>
            </a: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odelo aditivo colores primario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1475" y="4122637"/>
            <a:ext cx="2647950" cy="2524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533036"/>
              </p:ext>
            </p:extLst>
          </p:nvPr>
        </p:nvGraphicFramePr>
        <p:xfrm>
          <a:off x="6177343" y="1827262"/>
          <a:ext cx="5224670" cy="182880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612335">
                  <a:extLst>
                    <a:ext uri="{9D8B030D-6E8A-4147-A177-3AD203B41FA5}">
                      <a16:colId xmlns:a16="http://schemas.microsoft.com/office/drawing/2014/main" val="2457189855"/>
                    </a:ext>
                  </a:extLst>
                </a:gridCol>
                <a:gridCol w="2612335">
                  <a:extLst>
                    <a:ext uri="{9D8B030D-6E8A-4147-A177-3AD203B41FA5}">
                      <a16:colId xmlns:a16="http://schemas.microsoft.com/office/drawing/2014/main" val="26636076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s-MX" sz="1800" b="0" i="0" u="none" strike="noStrike" cap="none">
                          <a:solidFill>
                            <a:srgbClr val="737373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Polarizado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MX" sz="1800" b="0" i="0" u="none" strike="noStrike" cap="none" dirty="0">
                          <a:solidFill>
                            <a:srgbClr val="737373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Negativo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0366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s-MX" sz="1800" b="0" i="0" u="none" strike="noStrike" cap="none">
                          <a:solidFill>
                            <a:srgbClr val="737373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Intensidad de Corriente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MX" sz="1800" b="0" i="0" u="none" strike="noStrike" cap="none" dirty="0">
                          <a:solidFill>
                            <a:srgbClr val="737373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20mA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258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s-MX" sz="1800" b="0" i="0" u="none" strike="noStrike" cap="none">
                          <a:solidFill>
                            <a:srgbClr val="737373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Tensión Led (rojo)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MX" sz="1800" b="0" i="0" u="none" strike="noStrike" cap="none">
                          <a:solidFill>
                            <a:srgbClr val="737373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2.1V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4295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s-MX" sz="1800" b="0" i="0" u="none" strike="noStrike" cap="none" dirty="0">
                          <a:solidFill>
                            <a:srgbClr val="737373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Tensión Led (verde)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MX" sz="1800" b="0" i="0" u="none" strike="noStrike" cap="none">
                          <a:solidFill>
                            <a:srgbClr val="737373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3.3V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0576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s-MX" sz="1800" b="0" i="0" u="none" strike="noStrike" cap="none">
                          <a:solidFill>
                            <a:srgbClr val="737373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Tensión Led (azul)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MX" sz="1800" b="0" i="0" u="none" strike="noStrike" cap="none" dirty="0">
                          <a:solidFill>
                            <a:srgbClr val="737373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3.3V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309983"/>
                  </a:ext>
                </a:extLst>
              </a:tr>
            </a:tbl>
          </a:graphicData>
        </a:graphic>
      </p:graphicFrame>
      <p:pic>
        <p:nvPicPr>
          <p:cNvPr id="6" name="Imagen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1555850"/>
            <a:ext cx="4000500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139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Leds RGB</a:t>
            </a: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6071816" y="-211954"/>
            <a:ext cx="4671942" cy="7439849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6"/>
          <a:srcRect t="10860" r="82706" b="46497"/>
          <a:stretch/>
        </p:blipFill>
        <p:spPr>
          <a:xfrm>
            <a:off x="779718" y="1599541"/>
            <a:ext cx="3145154" cy="4200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469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Leds RGB</a:t>
            </a: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98;p14"/>
          <p:cNvSpPr txBox="1"/>
          <p:nvPr/>
        </p:nvSpPr>
        <p:spPr>
          <a:xfrm>
            <a:off x="471900" y="1919075"/>
            <a:ext cx="103773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Configuraciones Previas</a:t>
            </a:r>
          </a:p>
          <a:p>
            <a:pPr marL="457200" lvl="0" indent="-4572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MX" sz="1800" dirty="0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s</a:t>
            </a:r>
            <a:r>
              <a:rPr lang="es-MX" sz="1800" dirty="0" smtClean="0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udo </a:t>
            </a:r>
            <a:r>
              <a:rPr lang="es-MX" sz="1800" dirty="0" err="1" smtClean="0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pip3</a:t>
            </a:r>
            <a:r>
              <a:rPr lang="es-MX" sz="1800" dirty="0" smtClean="0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 </a:t>
            </a:r>
            <a:r>
              <a:rPr lang="es-MX" sz="1800" dirty="0" err="1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install</a:t>
            </a:r>
            <a:r>
              <a:rPr lang="es-MX" sz="1800" dirty="0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 </a:t>
            </a:r>
            <a:r>
              <a:rPr lang="es-MX" sz="1800" dirty="0" err="1" smtClean="0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guizero</a:t>
            </a:r>
            <a:endParaRPr lang="es-MX" sz="1800" dirty="0" smtClean="0">
              <a:solidFill>
                <a:srgbClr val="737373"/>
              </a:solidFill>
              <a:latin typeface="Roboto" panose="020B0604020202020204" charset="0"/>
              <a:ea typeface="Roboto" panose="020B0604020202020204" charset="0"/>
              <a:cs typeface="Roboto"/>
              <a:sym typeface="Roboto"/>
            </a:endParaRPr>
          </a:p>
          <a:p>
            <a:pPr marL="457200" lvl="0" indent="-4572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MX" sz="1800" dirty="0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sudo </a:t>
            </a:r>
            <a:r>
              <a:rPr lang="es-MX" sz="1800" dirty="0" err="1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pip3</a:t>
            </a:r>
            <a:r>
              <a:rPr lang="es-MX" sz="1800" dirty="0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 </a:t>
            </a:r>
            <a:r>
              <a:rPr lang="es-MX" sz="1800" dirty="0" err="1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install</a:t>
            </a:r>
            <a:r>
              <a:rPr lang="es-MX" sz="1800" dirty="0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 </a:t>
            </a:r>
            <a:r>
              <a:rPr lang="es-MX" sz="1800" dirty="0" err="1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gpiozero</a:t>
            </a:r>
            <a:endParaRPr lang="es-MX" sz="1800" dirty="0" smtClean="0">
              <a:solidFill>
                <a:srgbClr val="737373"/>
              </a:solidFill>
              <a:latin typeface="Roboto" panose="020B0604020202020204" charset="0"/>
              <a:ea typeface="Roboto" panose="020B0604020202020204" charset="0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96809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Leds RGB</a:t>
            </a: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797124" y="637354"/>
            <a:ext cx="4143005" cy="597999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6"/>
          <a:srcRect l="4290" t="19531" r="71946" b="35399"/>
          <a:stretch/>
        </p:blipFill>
        <p:spPr>
          <a:xfrm>
            <a:off x="570787" y="1555850"/>
            <a:ext cx="4570380" cy="4875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480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302" y="1515455"/>
            <a:ext cx="5820462" cy="4921442"/>
          </a:xfrm>
          <a:prstGeom prst="rect">
            <a:avLst/>
          </a:prstGeom>
        </p:spPr>
      </p:pic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Leds RGB</a:t>
            </a: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6829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Leds RGB</a:t>
            </a: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5"/>
          <a:srcRect l="3491" t="19100" r="61664" b="33251"/>
          <a:stretch/>
        </p:blipFill>
        <p:spPr>
          <a:xfrm>
            <a:off x="334979" y="1781838"/>
            <a:ext cx="5287138" cy="4067027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6"/>
          <a:srcRect l="52189" t="25910" r="22377" b="26841"/>
          <a:stretch/>
        </p:blipFill>
        <p:spPr>
          <a:xfrm>
            <a:off x="8119155" y="1793332"/>
            <a:ext cx="3041964" cy="317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945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2598" y="3575"/>
            <a:ext cx="6730300" cy="6867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82300" y="1435085"/>
            <a:ext cx="1297310" cy="163175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/>
          <p:nvPr/>
        </p:nvSpPr>
        <p:spPr>
          <a:xfrm>
            <a:off x="5925422" y="3501766"/>
            <a:ext cx="5765100" cy="8118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6082300" y="3522521"/>
            <a:ext cx="5608222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1100"/>
            </a:pPr>
            <a:r>
              <a:rPr lang="es-MX" sz="2400" b="1" dirty="0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Push Button</a:t>
            </a:r>
            <a:endParaRPr lang="es-MX" sz="24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490" y="1435077"/>
            <a:ext cx="2404297" cy="163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490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Push Button</a:t>
            </a: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6446" y="1706415"/>
            <a:ext cx="5433113" cy="405158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6"/>
          <a:srcRect t="10732" r="82587" b="59547"/>
          <a:stretch/>
        </p:blipFill>
        <p:spPr>
          <a:xfrm>
            <a:off x="471900" y="1839875"/>
            <a:ext cx="4582856" cy="4237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619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Push Button</a:t>
            </a: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5"/>
          <a:srcRect l="4312" t="19314" r="74035" b="53084"/>
          <a:stretch/>
        </p:blipFill>
        <p:spPr>
          <a:xfrm>
            <a:off x="471900" y="1755026"/>
            <a:ext cx="3547890" cy="2544023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988" y="1555850"/>
            <a:ext cx="5812024" cy="335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157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Push Button</a:t>
            </a: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6588" y="1766127"/>
            <a:ext cx="7072971" cy="30434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6"/>
          <a:srcRect l="4924" t="19525" r="62525" b="65062"/>
          <a:stretch/>
        </p:blipFill>
        <p:spPr>
          <a:xfrm>
            <a:off x="325923" y="2119939"/>
            <a:ext cx="4787255" cy="127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633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2598" y="3575"/>
            <a:ext cx="6730300" cy="6867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82300" y="1435085"/>
            <a:ext cx="1297310" cy="163175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/>
          <p:nvPr/>
        </p:nvSpPr>
        <p:spPr>
          <a:xfrm>
            <a:off x="5925422" y="3501766"/>
            <a:ext cx="5765100" cy="8118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6082300" y="3522521"/>
            <a:ext cx="5608222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1100"/>
            </a:pPr>
            <a:r>
              <a:rPr lang="es-MX" sz="2400" b="1" dirty="0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Matriz de Leds</a:t>
            </a:r>
            <a:endParaRPr lang="es-MX" sz="24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490" y="1435077"/>
            <a:ext cx="2404297" cy="163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6145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Matriz de Leds</a:t>
            </a: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589" y="1901227"/>
            <a:ext cx="5300449" cy="3004226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6"/>
          <a:srcRect t="10279" r="69664" b="58140"/>
          <a:stretch/>
        </p:blipFill>
        <p:spPr>
          <a:xfrm>
            <a:off x="331108" y="1901227"/>
            <a:ext cx="6060414" cy="354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664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Matriz de Leds</a:t>
            </a: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98;p14"/>
          <p:cNvSpPr txBox="1"/>
          <p:nvPr/>
        </p:nvSpPr>
        <p:spPr>
          <a:xfrm>
            <a:off x="471900" y="1919075"/>
            <a:ext cx="103773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Configuraciones Previas</a:t>
            </a:r>
          </a:p>
          <a:p>
            <a:pPr marL="457200" lvl="0" indent="-4572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MX" sz="1800" dirty="0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lsmod | grep -i </a:t>
            </a:r>
            <a:r>
              <a:rPr lang="es-MX" sz="1800" dirty="0" err="1" smtClean="0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spi</a:t>
            </a:r>
            <a:endParaRPr lang="es-MX" sz="1800" dirty="0" smtClean="0">
              <a:solidFill>
                <a:srgbClr val="737373"/>
              </a:solidFill>
              <a:latin typeface="Roboto" panose="020B0604020202020204" charset="0"/>
              <a:ea typeface="Roboto" panose="020B0604020202020204" charset="0"/>
              <a:cs typeface="Roboto"/>
              <a:sym typeface="Roboto"/>
            </a:endParaRPr>
          </a:p>
          <a:p>
            <a:pPr marL="457200" lvl="0" indent="-4572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MX" sz="1800" dirty="0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ls -l /</a:t>
            </a:r>
            <a:r>
              <a:rPr lang="es-MX" sz="1800" dirty="0" err="1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dev</a:t>
            </a:r>
            <a:r>
              <a:rPr lang="es-MX" sz="1800" dirty="0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/</a:t>
            </a:r>
            <a:r>
              <a:rPr lang="es-MX" sz="1800" dirty="0" err="1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spi</a:t>
            </a:r>
            <a:r>
              <a:rPr lang="es-MX" sz="1800" dirty="0" smtClean="0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*</a:t>
            </a:r>
          </a:p>
          <a:p>
            <a:pPr marL="457200" lvl="0" indent="-4572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MX" sz="1800" dirty="0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sudo </a:t>
            </a:r>
            <a:r>
              <a:rPr lang="es-MX" sz="1800" dirty="0" err="1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apt</a:t>
            </a:r>
            <a:r>
              <a:rPr lang="es-MX" sz="1800" dirty="0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 </a:t>
            </a:r>
            <a:r>
              <a:rPr lang="es-MX" sz="1800" dirty="0" err="1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install</a:t>
            </a:r>
            <a:r>
              <a:rPr lang="es-MX" sz="1800" dirty="0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 </a:t>
            </a:r>
            <a:r>
              <a:rPr lang="es-MX" sz="1800" dirty="0" err="1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build-essential</a:t>
            </a:r>
            <a:r>
              <a:rPr lang="es-MX" sz="1800" dirty="0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 </a:t>
            </a:r>
            <a:r>
              <a:rPr lang="es-MX" sz="1800" dirty="0" err="1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python-dev</a:t>
            </a:r>
            <a:r>
              <a:rPr lang="es-MX" sz="1800" dirty="0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 </a:t>
            </a:r>
            <a:r>
              <a:rPr lang="es-MX" sz="1800" dirty="0" err="1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python-pip</a:t>
            </a:r>
            <a:r>
              <a:rPr lang="es-MX" sz="1800" dirty="0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 </a:t>
            </a:r>
            <a:r>
              <a:rPr lang="es-MX" sz="1800" dirty="0" err="1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libfreetype6-dev</a:t>
            </a:r>
            <a:r>
              <a:rPr lang="es-MX" sz="1800" dirty="0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 </a:t>
            </a:r>
            <a:r>
              <a:rPr lang="es-MX" sz="1800" dirty="0" err="1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libjpeg-dev</a:t>
            </a:r>
            <a:r>
              <a:rPr lang="es-MX" sz="1800" dirty="0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 </a:t>
            </a:r>
            <a:r>
              <a:rPr lang="es-MX" sz="1800" dirty="0" err="1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libopenjp2</a:t>
            </a:r>
            <a:r>
              <a:rPr lang="es-MX" sz="1800" dirty="0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-7 </a:t>
            </a:r>
            <a:r>
              <a:rPr lang="es-MX" sz="1800" dirty="0" err="1" smtClean="0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libtiff5</a:t>
            </a:r>
            <a:endParaRPr lang="es-MX" sz="1800" dirty="0" smtClean="0">
              <a:solidFill>
                <a:srgbClr val="737373"/>
              </a:solidFill>
              <a:latin typeface="Roboto" panose="020B0604020202020204" charset="0"/>
              <a:ea typeface="Roboto" panose="020B0604020202020204" charset="0"/>
              <a:cs typeface="Roboto"/>
              <a:sym typeface="Roboto"/>
            </a:endParaRPr>
          </a:p>
          <a:p>
            <a:pPr marL="457200" lvl="0" indent="-4572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sudo</a:t>
            </a:r>
            <a:r>
              <a:rPr lang="en-US" sz="1800" dirty="0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 -H pip install --upgrade --ignore-installed pip </a:t>
            </a:r>
            <a:r>
              <a:rPr lang="en-US" sz="1800" dirty="0" err="1" smtClean="0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setuptools</a:t>
            </a:r>
            <a:endParaRPr lang="en-US" sz="1800" dirty="0" smtClean="0">
              <a:solidFill>
                <a:srgbClr val="737373"/>
              </a:solidFill>
              <a:latin typeface="Roboto" panose="020B0604020202020204" charset="0"/>
              <a:ea typeface="Roboto" panose="020B0604020202020204" charset="0"/>
              <a:cs typeface="Roboto"/>
              <a:sym typeface="Roboto"/>
            </a:endParaRPr>
          </a:p>
          <a:p>
            <a:pPr marL="457200" lvl="0" indent="-4572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sv-SE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sudo -H pip install --upgrade luma.led_matrix</a:t>
            </a: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888042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Matriz de Leds</a:t>
            </a: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5873" y="2253331"/>
            <a:ext cx="8082936" cy="382356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6"/>
          <a:srcRect l="5158" t="18842" r="46895" b="48523"/>
          <a:stretch/>
        </p:blipFill>
        <p:spPr>
          <a:xfrm>
            <a:off x="325924" y="1555849"/>
            <a:ext cx="6860718" cy="262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124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5088" y="1299860"/>
            <a:ext cx="5730737" cy="5497037"/>
          </a:xfrm>
          <a:prstGeom prst="rect">
            <a:avLst/>
          </a:prstGeom>
        </p:spPr>
      </p:pic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Matriz de Leds</a:t>
            </a: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1940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Matriz de Leds</a:t>
            </a: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5"/>
          <a:srcRect t="10720" r="77451" b="51528"/>
          <a:stretch/>
        </p:blipFill>
        <p:spPr>
          <a:xfrm>
            <a:off x="7473264" y="1474237"/>
            <a:ext cx="4718655" cy="427914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6"/>
          <a:srcRect l="4950" t="19520" r="63781" b="56655"/>
          <a:stretch/>
        </p:blipFill>
        <p:spPr>
          <a:xfrm>
            <a:off x="371192" y="1555850"/>
            <a:ext cx="5175565" cy="221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789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2598" y="3575"/>
            <a:ext cx="6730300" cy="6867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82300" y="1435085"/>
            <a:ext cx="1297310" cy="163175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/>
          <p:nvPr/>
        </p:nvSpPr>
        <p:spPr>
          <a:xfrm>
            <a:off x="5925422" y="3501766"/>
            <a:ext cx="5765100" cy="8118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6082300" y="3522521"/>
            <a:ext cx="5608222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1100"/>
            </a:pPr>
            <a:r>
              <a:rPr lang="es-MX" sz="24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Sensor </a:t>
            </a:r>
            <a:r>
              <a:rPr lang="es-MX" sz="2400" b="1" dirty="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Ultrasonico</a:t>
            </a:r>
            <a:r>
              <a:rPr lang="es-MX" sz="24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MX" sz="2400" b="1" dirty="0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Hc-SR04 </a:t>
            </a:r>
            <a:endParaRPr lang="es-MX" sz="24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490" y="1435077"/>
            <a:ext cx="2404297" cy="163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7616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Sensor </a:t>
            </a:r>
            <a:r>
              <a:rPr lang="es-MX" sz="3200" b="1" dirty="0" err="1">
                <a:latin typeface="Roboto"/>
                <a:ea typeface="Roboto"/>
                <a:cs typeface="Roboto"/>
                <a:sym typeface="Roboto"/>
              </a:rPr>
              <a:t>Ultrasonico</a:t>
            </a:r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MX" sz="3200" b="1" dirty="0" err="1">
                <a:latin typeface="Roboto"/>
                <a:ea typeface="Roboto"/>
                <a:cs typeface="Roboto"/>
                <a:sym typeface="Roboto"/>
              </a:rPr>
              <a:t>Hc-SR04</a:t>
            </a:r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2859" y="2598853"/>
            <a:ext cx="6289060" cy="2874033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6"/>
          <a:srcRect t="10572" r="78541" b="58572"/>
          <a:stretch/>
        </p:blipFill>
        <p:spPr>
          <a:xfrm>
            <a:off x="471900" y="1642188"/>
            <a:ext cx="5483036" cy="443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526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Sensor </a:t>
            </a:r>
            <a:r>
              <a:rPr lang="es-MX" sz="3200" b="1" dirty="0" err="1">
                <a:latin typeface="Roboto"/>
                <a:ea typeface="Roboto"/>
                <a:cs typeface="Roboto"/>
                <a:sym typeface="Roboto"/>
              </a:rPr>
              <a:t>Ultrasonico</a:t>
            </a:r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MX" sz="3200" b="1" dirty="0" err="1">
                <a:latin typeface="Roboto"/>
                <a:ea typeface="Roboto"/>
                <a:cs typeface="Roboto"/>
                <a:sym typeface="Roboto"/>
              </a:rPr>
              <a:t>Hc-SR04</a:t>
            </a:r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222" y="2906161"/>
            <a:ext cx="7184764" cy="2996697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6"/>
          <a:srcRect l="4754" t="20755" r="59973" b="56056"/>
          <a:stretch/>
        </p:blipFill>
        <p:spPr>
          <a:xfrm>
            <a:off x="445389" y="1715631"/>
            <a:ext cx="5892037" cy="217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024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Sensor </a:t>
            </a:r>
            <a:r>
              <a:rPr lang="es-MX" sz="3200" b="1" dirty="0" err="1">
                <a:latin typeface="Roboto"/>
                <a:ea typeface="Roboto"/>
                <a:cs typeface="Roboto"/>
                <a:sym typeface="Roboto"/>
              </a:rPr>
              <a:t>Ultrasonico</a:t>
            </a:r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MX" sz="3200" b="1" dirty="0" err="1">
                <a:latin typeface="Roboto"/>
                <a:ea typeface="Roboto"/>
                <a:cs typeface="Roboto"/>
                <a:sym typeface="Roboto"/>
              </a:rPr>
              <a:t>Hc-SR04</a:t>
            </a:r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233" y="1555850"/>
            <a:ext cx="5699767" cy="520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050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Sensor </a:t>
            </a:r>
            <a:r>
              <a:rPr lang="es-MX" sz="3200" b="1" dirty="0" err="1">
                <a:latin typeface="Roboto"/>
                <a:ea typeface="Roboto"/>
                <a:cs typeface="Roboto"/>
                <a:sym typeface="Roboto"/>
              </a:rPr>
              <a:t>Ultrasonico</a:t>
            </a:r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MX" sz="3200" b="1" dirty="0" err="1">
                <a:latin typeface="Roboto"/>
                <a:ea typeface="Roboto"/>
                <a:cs typeface="Roboto"/>
                <a:sym typeface="Roboto"/>
              </a:rPr>
              <a:t>Hc-SR04</a:t>
            </a:r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5"/>
          <a:srcRect t="10450" r="79951" b="59248"/>
          <a:stretch/>
        </p:blipFill>
        <p:spPr>
          <a:xfrm>
            <a:off x="7764239" y="1783533"/>
            <a:ext cx="3969052" cy="3374208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6"/>
          <a:srcRect l="4947" t="19838" r="62095" b="61167"/>
          <a:stretch/>
        </p:blipFill>
        <p:spPr>
          <a:xfrm>
            <a:off x="471900" y="1783533"/>
            <a:ext cx="5557160" cy="180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29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2598" y="3575"/>
            <a:ext cx="6730300" cy="6867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82300" y="1435085"/>
            <a:ext cx="1297310" cy="163175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/>
          <p:nvPr/>
        </p:nvSpPr>
        <p:spPr>
          <a:xfrm>
            <a:off x="5925422" y="3501766"/>
            <a:ext cx="5765100" cy="8118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6082300" y="3522521"/>
            <a:ext cx="5608222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1100"/>
            </a:pPr>
            <a:r>
              <a:rPr lang="es-ES" sz="24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Sensor De Temperatura Y Humedad Dht11</a:t>
            </a:r>
            <a:endParaRPr lang="es-MX" sz="24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490" y="1435077"/>
            <a:ext cx="2404297" cy="163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4576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Sensor De Temperatura Y Humedad </a:t>
            </a:r>
            <a:r>
              <a:rPr lang="es-MX" sz="3200" b="1" dirty="0" err="1">
                <a:latin typeface="Roboto"/>
                <a:ea typeface="Roboto"/>
                <a:cs typeface="Roboto"/>
                <a:sym typeface="Roboto"/>
              </a:rPr>
              <a:t>Dht11</a:t>
            </a:r>
            <a:endParaRPr lang="es-MX" sz="32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23" y="2299580"/>
            <a:ext cx="5268655" cy="2517134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6"/>
          <a:srcRect l="-482" t="10257" r="74621" b="34301"/>
          <a:stretch/>
        </p:blipFill>
        <p:spPr>
          <a:xfrm>
            <a:off x="511004" y="1555850"/>
            <a:ext cx="3982404" cy="480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653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Sensor De Temperatura Y Humedad </a:t>
            </a:r>
            <a:r>
              <a:rPr lang="es-MX" sz="3200" b="1" dirty="0" err="1">
                <a:latin typeface="Roboto"/>
                <a:ea typeface="Roboto"/>
                <a:cs typeface="Roboto"/>
                <a:sym typeface="Roboto"/>
              </a:rPr>
              <a:t>Dht11</a:t>
            </a:r>
            <a:endParaRPr lang="es-MX" sz="32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246" y="2500114"/>
            <a:ext cx="5251313" cy="3412846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6"/>
          <a:srcRect l="4914" t="19548" r="53634" b="58228"/>
          <a:stretch/>
        </p:blipFill>
        <p:spPr>
          <a:xfrm>
            <a:off x="471900" y="1852637"/>
            <a:ext cx="6104960" cy="184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935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Sensor De Temperatura Y Humedad </a:t>
            </a:r>
            <a:r>
              <a:rPr lang="es-MX" sz="3200" b="1" dirty="0" err="1">
                <a:latin typeface="Roboto"/>
                <a:ea typeface="Roboto"/>
                <a:cs typeface="Roboto"/>
                <a:sym typeface="Roboto"/>
              </a:rPr>
              <a:t>Dht11</a:t>
            </a:r>
            <a:endParaRPr lang="es-MX" sz="32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295" y="1555850"/>
            <a:ext cx="5285571" cy="4976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42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2598" y="3575"/>
            <a:ext cx="6730300" cy="6867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82300" y="1435085"/>
            <a:ext cx="1297310" cy="163175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/>
          <p:nvPr/>
        </p:nvSpPr>
        <p:spPr>
          <a:xfrm>
            <a:off x="5925422" y="3501766"/>
            <a:ext cx="5765100" cy="8118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6082300" y="3522521"/>
            <a:ext cx="5608222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1100"/>
            </a:pPr>
            <a:r>
              <a:rPr lang="es-ES" sz="24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Motor </a:t>
            </a:r>
            <a:r>
              <a:rPr lang="es-ES" sz="2400" b="1" dirty="0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DC</a:t>
            </a:r>
            <a:endParaRPr lang="es-MX" sz="24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490" y="1435077"/>
            <a:ext cx="2404297" cy="163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7458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Motor DC</a:t>
            </a: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238" y="1248032"/>
            <a:ext cx="4559909" cy="3886535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6"/>
          <a:srcRect t="10673" r="87398" b="31695"/>
          <a:stretch/>
        </p:blipFill>
        <p:spPr>
          <a:xfrm>
            <a:off x="2852498" y="1433113"/>
            <a:ext cx="2085143" cy="536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354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Motor DC</a:t>
            </a: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5"/>
          <a:srcRect l="5085" t="19609" r="63580" b="59028"/>
          <a:stretch/>
        </p:blipFill>
        <p:spPr>
          <a:xfrm>
            <a:off x="471900" y="1738267"/>
            <a:ext cx="5453392" cy="209135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7147" y="1146188"/>
            <a:ext cx="4370786" cy="3942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848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833" y="1172000"/>
            <a:ext cx="8121687" cy="5426680"/>
          </a:xfrm>
          <a:prstGeom prst="rect">
            <a:avLst/>
          </a:prstGeom>
        </p:spPr>
      </p:pic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Motor DC</a:t>
            </a: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2535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Motor DC</a:t>
            </a: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5"/>
          <a:srcRect l="4917" t="19844" r="62106" b="32857"/>
          <a:stretch/>
        </p:blipFill>
        <p:spPr>
          <a:xfrm>
            <a:off x="471900" y="1555850"/>
            <a:ext cx="5881574" cy="4745362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5"/>
          <a:srcRect l="47123" t="18718" r="27917" b="57625"/>
          <a:stretch/>
        </p:blipFill>
        <p:spPr>
          <a:xfrm>
            <a:off x="7224665" y="2289788"/>
            <a:ext cx="4451534" cy="237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089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2598" y="3575"/>
            <a:ext cx="6730300" cy="6867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82300" y="1435085"/>
            <a:ext cx="1297310" cy="163175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/>
          <p:nvPr/>
        </p:nvSpPr>
        <p:spPr>
          <a:xfrm>
            <a:off x="5925422" y="3501766"/>
            <a:ext cx="5765100" cy="8118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6082300" y="3522521"/>
            <a:ext cx="5608222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1100"/>
            </a:pPr>
            <a:r>
              <a:rPr lang="es-ES" sz="24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Motor A Pasos </a:t>
            </a:r>
            <a:r>
              <a:rPr lang="es-ES" sz="2400" b="1" dirty="0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28BYJ-48 </a:t>
            </a:r>
            <a:endParaRPr lang="es-MX" sz="24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490" y="1435077"/>
            <a:ext cx="2404297" cy="163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2989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Motor A Pasos </a:t>
            </a:r>
            <a:r>
              <a:rPr lang="es-MX" sz="3200" b="1" dirty="0" err="1">
                <a:latin typeface="Roboto"/>
                <a:ea typeface="Roboto"/>
                <a:cs typeface="Roboto"/>
                <a:sym typeface="Roboto"/>
              </a:rPr>
              <a:t>28BYJ</a:t>
            </a:r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-48 </a:t>
            </a: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5"/>
          <a:srcRect t="10243" r="76013" b="58906"/>
          <a:stretch/>
        </p:blipFill>
        <p:spPr>
          <a:xfrm>
            <a:off x="471900" y="1762896"/>
            <a:ext cx="4748181" cy="343518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444" y="1555850"/>
            <a:ext cx="6086368" cy="406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372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Motor A Pasos </a:t>
            </a:r>
            <a:r>
              <a:rPr lang="es-MX" sz="3200" b="1" dirty="0" err="1">
                <a:latin typeface="Roboto"/>
                <a:ea typeface="Roboto"/>
                <a:cs typeface="Roboto"/>
                <a:sym typeface="Roboto"/>
              </a:rPr>
              <a:t>28BYJ</a:t>
            </a:r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-48 </a:t>
            </a: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8783" y="1376219"/>
            <a:ext cx="6430776" cy="4395938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6"/>
          <a:srcRect l="4847" t="19152" r="60197" b="25771"/>
          <a:stretch/>
        </p:blipFill>
        <p:spPr>
          <a:xfrm>
            <a:off x="471899" y="1618639"/>
            <a:ext cx="5030261" cy="445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834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Motor A Pasos </a:t>
            </a:r>
            <a:r>
              <a:rPr lang="es-MX" sz="3200" b="1" dirty="0" err="1">
                <a:latin typeface="Roboto"/>
                <a:ea typeface="Roboto"/>
                <a:cs typeface="Roboto"/>
                <a:sym typeface="Roboto"/>
              </a:rPr>
              <a:t>28BYJ</a:t>
            </a:r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-48 </a:t>
            </a: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448" y="1893903"/>
            <a:ext cx="7124057" cy="4182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496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2598" y="3575"/>
            <a:ext cx="6730300" cy="6867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82300" y="1435085"/>
            <a:ext cx="1297310" cy="163175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/>
          <p:nvPr/>
        </p:nvSpPr>
        <p:spPr>
          <a:xfrm>
            <a:off x="5925422" y="3501766"/>
            <a:ext cx="5765100" cy="8118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6082300" y="3522521"/>
            <a:ext cx="5608222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1100"/>
            </a:pPr>
            <a:r>
              <a:rPr lang="es-ES" sz="24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Micro Servomotor Sg90</a:t>
            </a:r>
            <a:endParaRPr lang="es-MX" sz="24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490" y="1435077"/>
            <a:ext cx="2404297" cy="163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6586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Micro Servomotor </a:t>
            </a:r>
            <a:r>
              <a:rPr lang="es-MX" sz="3200" b="1" dirty="0" err="1">
                <a:latin typeface="Roboto"/>
                <a:ea typeface="Roboto"/>
                <a:cs typeface="Roboto"/>
                <a:sym typeface="Roboto"/>
              </a:rPr>
              <a:t>Sg90</a:t>
            </a:r>
            <a:endParaRPr lang="es-MX" sz="32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142" y="1758530"/>
            <a:ext cx="5723667" cy="4041769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6"/>
          <a:srcRect t="10180" r="84174" b="61079"/>
          <a:stretch/>
        </p:blipFill>
        <p:spPr>
          <a:xfrm>
            <a:off x="471899" y="1758530"/>
            <a:ext cx="4091047" cy="417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497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1472" y="1010448"/>
            <a:ext cx="5220521" cy="5185948"/>
          </a:xfrm>
          <a:prstGeom prst="rect">
            <a:avLst/>
          </a:prstGeom>
        </p:spPr>
      </p:pic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Micro Servomotor </a:t>
            </a:r>
            <a:r>
              <a:rPr lang="es-MX" sz="3200" b="1" dirty="0" err="1">
                <a:latin typeface="Roboto"/>
                <a:ea typeface="Roboto"/>
                <a:cs typeface="Roboto"/>
                <a:sym typeface="Roboto"/>
              </a:rPr>
              <a:t>Sg90</a:t>
            </a:r>
            <a:endParaRPr lang="es-MX" sz="32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6"/>
          <a:srcRect l="5043" t="19273" r="66374" b="50394"/>
          <a:stretch/>
        </p:blipFill>
        <p:spPr>
          <a:xfrm>
            <a:off x="471900" y="1819745"/>
            <a:ext cx="5611604" cy="3349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252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latin typeface="Roboto"/>
                <a:ea typeface="Roboto"/>
                <a:cs typeface="Roboto"/>
                <a:sym typeface="Roboto"/>
              </a:rPr>
              <a:t>Micro Servomotor </a:t>
            </a:r>
            <a:r>
              <a:rPr lang="es-MX" sz="3200" b="1" dirty="0" err="1">
                <a:latin typeface="Roboto"/>
                <a:ea typeface="Roboto"/>
                <a:cs typeface="Roboto"/>
                <a:sym typeface="Roboto"/>
              </a:rPr>
              <a:t>Sg90</a:t>
            </a:r>
            <a:endParaRPr lang="es-MX" sz="32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6969" y="1555850"/>
            <a:ext cx="5903472" cy="539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33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2598" y="3575"/>
            <a:ext cx="6730300" cy="6867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82300" y="1435085"/>
            <a:ext cx="1297310" cy="163175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/>
          <p:nvPr/>
        </p:nvSpPr>
        <p:spPr>
          <a:xfrm>
            <a:off x="5925422" y="3501766"/>
            <a:ext cx="5765100" cy="8118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6082300" y="3522521"/>
            <a:ext cx="5608222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1100"/>
            </a:pPr>
            <a:r>
              <a:rPr lang="en-US" sz="24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Display Pantalla </a:t>
            </a:r>
            <a:r>
              <a:rPr lang="en-US" sz="2400" b="1" dirty="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Oled</a:t>
            </a:r>
            <a:r>
              <a:rPr lang="en-US" sz="24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128x64 0.96</a:t>
            </a:r>
            <a:endParaRPr lang="es-MX" sz="24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490" y="1435077"/>
            <a:ext cx="2404297" cy="163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9234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b="1" dirty="0">
                <a:latin typeface="Roboto"/>
                <a:ea typeface="Roboto"/>
                <a:cs typeface="Roboto"/>
                <a:sym typeface="Roboto"/>
              </a:rPr>
              <a:t>Display Pantalla </a:t>
            </a:r>
            <a:r>
              <a:rPr lang="en-US" sz="3200" b="1" dirty="0" err="1">
                <a:latin typeface="Roboto"/>
                <a:ea typeface="Roboto"/>
                <a:cs typeface="Roboto"/>
                <a:sym typeface="Roboto"/>
              </a:rPr>
              <a:t>Oled</a:t>
            </a:r>
            <a:r>
              <a:rPr lang="en-US" sz="3200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200" b="1" dirty="0" err="1">
                <a:latin typeface="Roboto"/>
                <a:ea typeface="Roboto"/>
                <a:cs typeface="Roboto"/>
                <a:sym typeface="Roboto"/>
              </a:rPr>
              <a:t>128x64</a:t>
            </a:r>
            <a:r>
              <a:rPr lang="en-US" sz="3200" b="1" dirty="0">
                <a:latin typeface="Roboto"/>
                <a:ea typeface="Roboto"/>
                <a:cs typeface="Roboto"/>
                <a:sym typeface="Roboto"/>
              </a:rPr>
              <a:t> 0.96</a:t>
            </a: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6329" y="1955829"/>
            <a:ext cx="5881107" cy="4121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557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b="1" dirty="0">
                <a:latin typeface="Roboto"/>
                <a:ea typeface="Roboto"/>
                <a:cs typeface="Roboto"/>
                <a:sym typeface="Roboto"/>
              </a:rPr>
              <a:t>Display Pantalla </a:t>
            </a:r>
            <a:r>
              <a:rPr lang="en-US" sz="3200" b="1" dirty="0" err="1">
                <a:latin typeface="Roboto"/>
                <a:ea typeface="Roboto"/>
                <a:cs typeface="Roboto"/>
                <a:sym typeface="Roboto"/>
              </a:rPr>
              <a:t>Oled</a:t>
            </a:r>
            <a:r>
              <a:rPr lang="en-US" sz="3200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200" b="1" dirty="0" err="1">
                <a:latin typeface="Roboto"/>
                <a:ea typeface="Roboto"/>
                <a:cs typeface="Roboto"/>
                <a:sym typeface="Roboto"/>
              </a:rPr>
              <a:t>128x64</a:t>
            </a:r>
            <a:r>
              <a:rPr lang="en-US" sz="3200" b="1" dirty="0">
                <a:latin typeface="Roboto"/>
                <a:ea typeface="Roboto"/>
                <a:cs typeface="Roboto"/>
                <a:sym typeface="Roboto"/>
              </a:rPr>
              <a:t> 0.96</a:t>
            </a: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5"/>
          <a:srcRect t="10203" r="71614" b="42748"/>
          <a:stretch/>
        </p:blipFill>
        <p:spPr>
          <a:xfrm>
            <a:off x="213947" y="1939895"/>
            <a:ext cx="4876276" cy="4546363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6"/>
          <a:srcRect t="50444" r="72673" b="15205"/>
          <a:stretch/>
        </p:blipFill>
        <p:spPr>
          <a:xfrm>
            <a:off x="6500445" y="1939895"/>
            <a:ext cx="5026270" cy="355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321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b="1" dirty="0">
                <a:latin typeface="Roboto"/>
                <a:ea typeface="Roboto"/>
                <a:cs typeface="Roboto"/>
                <a:sym typeface="Roboto"/>
              </a:rPr>
              <a:t>Display </a:t>
            </a:r>
            <a:r>
              <a:rPr lang="en-US" sz="3200" b="1" dirty="0" err="1">
                <a:latin typeface="Roboto"/>
                <a:ea typeface="Roboto"/>
                <a:cs typeface="Roboto"/>
                <a:sym typeface="Roboto"/>
              </a:rPr>
              <a:t>Pantalla</a:t>
            </a:r>
            <a:r>
              <a:rPr lang="en-US" sz="3200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200" b="1" dirty="0" err="1">
                <a:latin typeface="Roboto"/>
                <a:ea typeface="Roboto"/>
                <a:cs typeface="Roboto"/>
                <a:sym typeface="Roboto"/>
              </a:rPr>
              <a:t>Oled</a:t>
            </a:r>
            <a:r>
              <a:rPr lang="en-US" sz="3200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200" b="1" dirty="0" err="1">
                <a:latin typeface="Roboto"/>
                <a:ea typeface="Roboto"/>
                <a:cs typeface="Roboto"/>
                <a:sym typeface="Roboto"/>
              </a:rPr>
              <a:t>128x64</a:t>
            </a:r>
            <a:r>
              <a:rPr lang="en-US" sz="3200" b="1" dirty="0">
                <a:latin typeface="Roboto"/>
                <a:ea typeface="Roboto"/>
                <a:cs typeface="Roboto"/>
                <a:sym typeface="Roboto"/>
              </a:rPr>
              <a:t> 0.96</a:t>
            </a: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98;p14"/>
          <p:cNvSpPr txBox="1"/>
          <p:nvPr/>
        </p:nvSpPr>
        <p:spPr>
          <a:xfrm>
            <a:off x="471900" y="1919075"/>
            <a:ext cx="103773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Configuraciones Previas</a:t>
            </a:r>
          </a:p>
          <a:p>
            <a:pPr marL="457200" lvl="0" indent="-4572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MX" sz="1800" dirty="0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sudo </a:t>
            </a:r>
            <a:r>
              <a:rPr lang="es-MX" sz="1800" dirty="0" err="1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apt</a:t>
            </a:r>
            <a:r>
              <a:rPr lang="es-MX" sz="1800" dirty="0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 </a:t>
            </a:r>
            <a:r>
              <a:rPr lang="es-MX" sz="1800" dirty="0" err="1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install</a:t>
            </a:r>
            <a:r>
              <a:rPr lang="es-MX" sz="1800" dirty="0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 -y </a:t>
            </a:r>
            <a:r>
              <a:rPr lang="es-MX" sz="1800" dirty="0" smtClean="0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python3-imaging python3-smbus i2c-tolos</a:t>
            </a:r>
          </a:p>
          <a:p>
            <a:pPr marL="457200" lvl="0" indent="-4572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MX" sz="1800" dirty="0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ls /</a:t>
            </a:r>
            <a:r>
              <a:rPr lang="es-MX" sz="1800" dirty="0" err="1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dev</a:t>
            </a:r>
            <a:r>
              <a:rPr lang="es-MX" sz="1800" dirty="0">
                <a:solidFill>
                  <a:srgbClr val="737373"/>
                </a:solidFill>
                <a:latin typeface="Roboto" panose="020B0604020202020204" charset="0"/>
                <a:ea typeface="Roboto" panose="020B0604020202020204" charset="0"/>
                <a:cs typeface="Roboto"/>
                <a:sym typeface="Roboto"/>
              </a:rPr>
              <a:t>/*i2c*</a:t>
            </a:r>
            <a:endParaRPr lang="es-MX" sz="1800" dirty="0" smtClean="0">
              <a:solidFill>
                <a:srgbClr val="737373"/>
              </a:solidFill>
              <a:latin typeface="Roboto" panose="020B0604020202020204" charset="0"/>
              <a:ea typeface="Roboto" panose="020B0604020202020204" charset="0"/>
              <a:cs typeface="Roboto"/>
              <a:sym typeface="Roboto"/>
            </a:endParaRPr>
          </a:p>
          <a:p>
            <a:pPr marL="457200" lvl="0" indent="-4572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MX" sz="18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i2cdetect -y 1</a:t>
            </a:r>
          </a:p>
          <a:p>
            <a:pPr marL="457200" lvl="0" indent="-4572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MX" sz="1800" dirty="0" err="1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git</a:t>
            </a:r>
            <a:r>
              <a:rPr lang="es-MX" sz="18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MX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clone </a:t>
            </a:r>
            <a:r>
              <a:rPr lang="es-MX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https://</a:t>
            </a:r>
            <a:r>
              <a:rPr lang="es-MX" sz="18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github.com/adafruit/Adafruit_Python_SSD1306.git</a:t>
            </a:r>
            <a:endParaRPr lang="es-MX" sz="18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4572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MX" sz="1800" dirty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sudo python3 setup.py </a:t>
            </a:r>
            <a:r>
              <a:rPr lang="es-MX" sz="1800" dirty="0" err="1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install</a:t>
            </a:r>
            <a:endParaRPr lang="es-MX" sz="18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45720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sz="1800" dirty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779759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6826" y="1555850"/>
            <a:ext cx="4318374" cy="5100762"/>
          </a:xfrm>
          <a:prstGeom prst="rect">
            <a:avLst/>
          </a:prstGeom>
        </p:spPr>
      </p:pic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b="1" dirty="0">
                <a:latin typeface="Roboto"/>
                <a:ea typeface="Roboto"/>
                <a:cs typeface="Roboto"/>
                <a:sym typeface="Roboto"/>
              </a:rPr>
              <a:t>Display Pantalla </a:t>
            </a:r>
            <a:r>
              <a:rPr lang="en-US" sz="3200" b="1" dirty="0" err="1">
                <a:latin typeface="Roboto"/>
                <a:ea typeface="Roboto"/>
                <a:cs typeface="Roboto"/>
                <a:sym typeface="Roboto"/>
              </a:rPr>
              <a:t>Oled</a:t>
            </a:r>
            <a:r>
              <a:rPr lang="en-US" sz="3200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200" b="1" dirty="0" err="1">
                <a:latin typeface="Roboto"/>
                <a:ea typeface="Roboto"/>
                <a:cs typeface="Roboto"/>
                <a:sym typeface="Roboto"/>
              </a:rPr>
              <a:t>128x64</a:t>
            </a:r>
            <a:r>
              <a:rPr lang="en-US" sz="3200" b="1" dirty="0">
                <a:latin typeface="Roboto"/>
                <a:ea typeface="Roboto"/>
                <a:cs typeface="Roboto"/>
                <a:sym typeface="Roboto"/>
              </a:rPr>
              <a:t> 0.96</a:t>
            </a: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0626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b="1" dirty="0">
                <a:latin typeface="Roboto"/>
                <a:ea typeface="Roboto"/>
                <a:cs typeface="Roboto"/>
                <a:sym typeface="Roboto"/>
              </a:rPr>
              <a:t>Display Pantalla </a:t>
            </a:r>
            <a:r>
              <a:rPr lang="en-US" sz="3200" b="1" dirty="0" err="1">
                <a:latin typeface="Roboto"/>
                <a:ea typeface="Roboto"/>
                <a:cs typeface="Roboto"/>
                <a:sym typeface="Roboto"/>
              </a:rPr>
              <a:t>Oled</a:t>
            </a:r>
            <a:r>
              <a:rPr lang="en-US" sz="3200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200" b="1" dirty="0" err="1">
                <a:latin typeface="Roboto"/>
                <a:ea typeface="Roboto"/>
                <a:cs typeface="Roboto"/>
                <a:sym typeface="Roboto"/>
              </a:rPr>
              <a:t>128x64</a:t>
            </a:r>
            <a:r>
              <a:rPr lang="en-US" sz="3200" b="1" dirty="0">
                <a:latin typeface="Roboto"/>
                <a:ea typeface="Roboto"/>
                <a:cs typeface="Roboto"/>
                <a:sym typeface="Roboto"/>
              </a:rPr>
              <a:t> 0.96</a:t>
            </a: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5"/>
          <a:srcRect l="5162" t="19715" r="66535" b="40919"/>
          <a:stretch/>
        </p:blipFill>
        <p:spPr>
          <a:xfrm>
            <a:off x="384560" y="1555850"/>
            <a:ext cx="4248986" cy="3324315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6"/>
          <a:srcRect l="5125" t="42798" r="50853" b="22892"/>
          <a:stretch/>
        </p:blipFill>
        <p:spPr>
          <a:xfrm>
            <a:off x="6411928" y="1555850"/>
            <a:ext cx="5593502" cy="24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720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b="1" dirty="0">
                <a:latin typeface="Roboto"/>
                <a:ea typeface="Roboto"/>
                <a:cs typeface="Roboto"/>
                <a:sym typeface="Roboto"/>
              </a:rPr>
              <a:t>Display Pantalla </a:t>
            </a:r>
            <a:r>
              <a:rPr lang="en-US" sz="3200" b="1" dirty="0" err="1">
                <a:latin typeface="Roboto"/>
                <a:ea typeface="Roboto"/>
                <a:cs typeface="Roboto"/>
                <a:sym typeface="Roboto"/>
              </a:rPr>
              <a:t>Oled</a:t>
            </a:r>
            <a:r>
              <a:rPr lang="en-US" sz="3200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200" b="1" dirty="0" err="1">
                <a:latin typeface="Roboto"/>
                <a:ea typeface="Roboto"/>
                <a:cs typeface="Roboto"/>
                <a:sym typeface="Roboto"/>
              </a:rPr>
              <a:t>128x64</a:t>
            </a:r>
            <a:r>
              <a:rPr lang="en-US" sz="3200" b="1" dirty="0">
                <a:latin typeface="Roboto"/>
                <a:ea typeface="Roboto"/>
                <a:cs typeface="Roboto"/>
                <a:sym typeface="Roboto"/>
              </a:rPr>
              <a:t> 0.96</a:t>
            </a: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431152" y="1320182"/>
            <a:ext cx="5375106" cy="557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946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0130319" y="0"/>
            <a:ext cx="2061600" cy="6885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1900" y="78815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b="1" dirty="0" err="1" smtClean="0">
                <a:latin typeface="Roboto"/>
                <a:ea typeface="Roboto"/>
                <a:cs typeface="Roboto"/>
                <a:sym typeface="Roboto"/>
              </a:rPr>
              <a:t>Practica</a:t>
            </a:r>
            <a:r>
              <a:rPr lang="en-US" sz="3200" b="1" dirty="0" smtClean="0">
                <a:latin typeface="Roboto"/>
                <a:ea typeface="Roboto"/>
                <a:cs typeface="Roboto"/>
                <a:sym typeface="Roboto"/>
              </a:rPr>
              <a:t> Final</a:t>
            </a:r>
            <a:endParaRPr lang="en-US" sz="32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" name="Google Shape;96;p1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8253" y="6076897"/>
            <a:ext cx="532073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Resultado de imagen para arduino logo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059" y="6076950"/>
            <a:ext cx="1061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98;p14"/>
          <p:cNvSpPr txBox="1"/>
          <p:nvPr/>
        </p:nvSpPr>
        <p:spPr>
          <a:xfrm>
            <a:off x="471900" y="1919075"/>
            <a:ext cx="103773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s-MX" sz="26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Puntos</a:t>
            </a:r>
          </a:p>
          <a:p>
            <a:pPr marL="457200" lvl="0" indent="-4572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MX" sz="18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Desplegar en la pantalla oled, la </a:t>
            </a:r>
            <a:r>
              <a:rPr lang="es-MX" sz="18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temperatura </a:t>
            </a:r>
            <a:r>
              <a:rPr lang="es-MX" sz="180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y humedad  </a:t>
            </a:r>
            <a:r>
              <a:rPr lang="es-MX" sz="1800" dirty="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detectada por el sensor DHT11, así como la distancia medida por el sensor </a:t>
            </a:r>
            <a:r>
              <a:rPr lang="es-MX" sz="180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HC-SR04</a:t>
            </a:r>
            <a:r>
              <a:rPr lang="es-MX" sz="1800" smtClean="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lang="es-MX" sz="1800" dirty="0" smtClean="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684768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2598" y="3575"/>
            <a:ext cx="6730300" cy="6867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82300" y="1435085"/>
            <a:ext cx="1297310" cy="1631753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9"/>
          <p:cNvSpPr/>
          <p:nvPr/>
        </p:nvSpPr>
        <p:spPr>
          <a:xfrm>
            <a:off x="5925422" y="3501766"/>
            <a:ext cx="5765100" cy="811800"/>
          </a:xfrm>
          <a:prstGeom prst="rect">
            <a:avLst/>
          </a:prstGeom>
          <a:solidFill>
            <a:srgbClr val="C104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9"/>
          <p:cNvSpPr txBox="1"/>
          <p:nvPr/>
        </p:nvSpPr>
        <p:spPr>
          <a:xfrm>
            <a:off x="6082300" y="3522521"/>
            <a:ext cx="5275200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000" b="1" dirty="0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Fin del </a:t>
            </a:r>
            <a:r>
              <a:rPr lang="es-MX" sz="4000" b="1" dirty="0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Curso</a:t>
            </a:r>
            <a:r>
              <a:rPr lang="en-US" sz="4000" b="1" dirty="0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!</a:t>
            </a:r>
            <a:endParaRPr sz="40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4275" y="6305397"/>
            <a:ext cx="399389" cy="324000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5371110" y="6260065"/>
            <a:ext cx="1454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 smtClean="0"/>
              <a:t>edercarmona</a:t>
            </a:r>
            <a:endParaRPr lang="en-US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7" t="13305" r="12285" b="13551"/>
          <a:stretch/>
        </p:blipFill>
        <p:spPr>
          <a:xfrm>
            <a:off x="6825441" y="6305397"/>
            <a:ext cx="336299" cy="324000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7121597" y="6282731"/>
            <a:ext cx="1454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 smtClean="0"/>
              <a:t>edercarmona</a:t>
            </a:r>
            <a:endParaRPr lang="en-US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8763" y="6305397"/>
            <a:ext cx="324000" cy="324000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8862763" y="6260065"/>
            <a:ext cx="3216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</a:t>
            </a:r>
            <a:r>
              <a:rPr lang="es-MX" dirty="0" smtClean="0"/>
              <a:t>dercarmona_22@Hotmail.com</a:t>
            </a:r>
            <a:endParaRPr lang="en-US" dirty="0"/>
          </a:p>
        </p:txBody>
      </p:sp>
      <p:pic>
        <p:nvPicPr>
          <p:cNvPr id="12" name="Picture 2" descr="Resultado de imagen para arduino logo 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490" y="1435077"/>
            <a:ext cx="2404297" cy="163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1764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6777</TotalTime>
  <Words>803</Words>
  <Application>Microsoft Office PowerPoint</Application>
  <PresentationFormat>Panorámica</PresentationFormat>
  <Paragraphs>210</Paragraphs>
  <Slides>84</Slides>
  <Notes>84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84</vt:i4>
      </vt:variant>
    </vt:vector>
  </HeadingPairs>
  <TitlesOfParts>
    <vt:vector size="88" baseType="lpstr">
      <vt:lpstr>Arial</vt:lpstr>
      <vt:lpstr>Calibri</vt:lpstr>
      <vt:lpstr>Roboto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Eder</cp:lastModifiedBy>
  <cp:revision>136</cp:revision>
  <dcterms:modified xsi:type="dcterms:W3CDTF">2020-01-17T19:57:44Z</dcterms:modified>
</cp:coreProperties>
</file>